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10287000" cx="18288000"/>
  <p:notesSz cx="6858000" cy="9144000"/>
  <p:embeddedFontLst>
    <p:embeddedFont>
      <p:font typeface="Hammersmith One"/>
      <p:regular r:id="rId15"/>
    </p:embeddedFont>
    <p:embeddedFont>
      <p:font typeface="Instrument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hzn1q1RKtNvxFR7ABIV0xfdRf2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HammersmithOne-regular.fntdata"/><Relationship Id="rId14" Type="http://schemas.openxmlformats.org/officeDocument/2006/relationships/slide" Target="slides/slide9.xml"/><Relationship Id="rId17" Type="http://schemas.openxmlformats.org/officeDocument/2006/relationships/font" Target="fonts/InstrumentSans-bold.fntdata"/><Relationship Id="rId16" Type="http://schemas.openxmlformats.org/officeDocument/2006/relationships/font" Target="fonts/Instrument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strumentSans-boldItalic.fntdata"/><Relationship Id="rId6" Type="http://schemas.openxmlformats.org/officeDocument/2006/relationships/slide" Target="slides/slide1.xml"/><Relationship Id="rId18" Type="http://schemas.openxmlformats.org/officeDocument/2006/relationships/font" Target="fonts/Instrument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028700" y="847710"/>
            <a:ext cx="16230600" cy="60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0" u="none" cap="none" strike="noStrike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Analysis of the Structure of the University Rankings</a:t>
            </a:r>
            <a:endParaRPr sz="12000"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028700" y="7828828"/>
            <a:ext cx="10866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0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Deconstructing the evaluation system through data analysis and mathematical gradients</a:t>
            </a:r>
            <a:endParaRPr sz="40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2870001" y="7828825"/>
            <a:ext cx="4389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0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Author:</a:t>
            </a:r>
            <a:endParaRPr sz="40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0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Maksym Honchar</a:t>
            </a:r>
            <a:endParaRPr sz="40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8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2"/>
          <p:cNvGrpSpPr/>
          <p:nvPr/>
        </p:nvGrpSpPr>
        <p:grpSpPr>
          <a:xfrm>
            <a:off x="11339275" y="2384976"/>
            <a:ext cx="5920073" cy="7028301"/>
            <a:chOff x="0" y="-38100"/>
            <a:chExt cx="1559186" cy="1779632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1559186" cy="1741532"/>
            </a:xfrm>
            <a:custGeom>
              <a:rect b="b" l="l" r="r" t="t"/>
              <a:pathLst>
                <a:path extrusionOk="0" h="1741532" w="1559186">
                  <a:moveTo>
                    <a:pt x="65387" y="0"/>
                  </a:moveTo>
                  <a:lnTo>
                    <a:pt x="1493798" y="0"/>
                  </a:lnTo>
                  <a:cubicBezTo>
                    <a:pt x="1511140" y="0"/>
                    <a:pt x="1527772" y="6889"/>
                    <a:pt x="1540034" y="19152"/>
                  </a:cubicBezTo>
                  <a:cubicBezTo>
                    <a:pt x="1552297" y="31414"/>
                    <a:pt x="1559186" y="48046"/>
                    <a:pt x="1559186" y="65387"/>
                  </a:cubicBezTo>
                  <a:lnTo>
                    <a:pt x="1559186" y="1676145"/>
                  </a:lnTo>
                  <a:cubicBezTo>
                    <a:pt x="1559186" y="1693487"/>
                    <a:pt x="1552297" y="1710118"/>
                    <a:pt x="1540034" y="1722381"/>
                  </a:cubicBezTo>
                  <a:cubicBezTo>
                    <a:pt x="1527772" y="1734643"/>
                    <a:pt x="1511140" y="1741532"/>
                    <a:pt x="1493798" y="1741532"/>
                  </a:cubicBezTo>
                  <a:lnTo>
                    <a:pt x="65387" y="1741532"/>
                  </a:lnTo>
                  <a:cubicBezTo>
                    <a:pt x="48046" y="1741532"/>
                    <a:pt x="31414" y="1734643"/>
                    <a:pt x="19152" y="1722381"/>
                  </a:cubicBezTo>
                  <a:cubicBezTo>
                    <a:pt x="6889" y="1710118"/>
                    <a:pt x="0" y="1693487"/>
                    <a:pt x="0" y="1676145"/>
                  </a:cubicBezTo>
                  <a:lnTo>
                    <a:pt x="0" y="65387"/>
                  </a:lnTo>
                  <a:cubicBezTo>
                    <a:pt x="0" y="48046"/>
                    <a:pt x="6889" y="31414"/>
                    <a:pt x="19152" y="19152"/>
                  </a:cubicBezTo>
                  <a:cubicBezTo>
                    <a:pt x="31414" y="6889"/>
                    <a:pt x="48046" y="0"/>
                    <a:pt x="653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0" y="-38100"/>
              <a:ext cx="1559186" cy="17796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2"/>
          <p:cNvGrpSpPr/>
          <p:nvPr/>
        </p:nvGrpSpPr>
        <p:grpSpPr>
          <a:xfrm>
            <a:off x="11546650" y="3354749"/>
            <a:ext cx="5505289" cy="2677798"/>
            <a:chOff x="0" y="-38100"/>
            <a:chExt cx="1449943" cy="686386"/>
          </a:xfrm>
        </p:grpSpPr>
        <p:sp>
          <p:nvSpPr>
            <p:cNvPr id="95" name="Google Shape;95;p2"/>
            <p:cNvSpPr/>
            <p:nvPr/>
          </p:nvSpPr>
          <p:spPr>
            <a:xfrm>
              <a:off x="0" y="0"/>
              <a:ext cx="1449943" cy="648286"/>
            </a:xfrm>
            <a:custGeom>
              <a:rect b="b" l="l" r="r" t="t"/>
              <a:pathLst>
                <a:path extrusionOk="0" h="648286" w="1449943">
                  <a:moveTo>
                    <a:pt x="70314" y="0"/>
                  </a:moveTo>
                  <a:lnTo>
                    <a:pt x="1379629" y="0"/>
                  </a:lnTo>
                  <a:cubicBezTo>
                    <a:pt x="1418462" y="0"/>
                    <a:pt x="1449943" y="31481"/>
                    <a:pt x="1449943" y="70314"/>
                  </a:cubicBezTo>
                  <a:lnTo>
                    <a:pt x="1449943" y="577972"/>
                  </a:lnTo>
                  <a:cubicBezTo>
                    <a:pt x="1449943" y="616805"/>
                    <a:pt x="1418462" y="648286"/>
                    <a:pt x="1379629" y="648286"/>
                  </a:cubicBezTo>
                  <a:lnTo>
                    <a:pt x="70314" y="648286"/>
                  </a:lnTo>
                  <a:cubicBezTo>
                    <a:pt x="31481" y="648286"/>
                    <a:pt x="0" y="616805"/>
                    <a:pt x="0" y="577972"/>
                  </a:cubicBezTo>
                  <a:lnTo>
                    <a:pt x="0" y="70314"/>
                  </a:lnTo>
                  <a:cubicBezTo>
                    <a:pt x="0" y="31481"/>
                    <a:pt x="31481" y="0"/>
                    <a:pt x="70314" y="0"/>
                  </a:cubicBezTo>
                  <a:close/>
                </a:path>
              </a:pathLst>
            </a:custGeom>
            <a:solidFill>
              <a:srgbClr val="EDF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0" y="-38100"/>
              <a:ext cx="1449943" cy="6863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7" name="Google Shape;97;p2"/>
          <p:cNvSpPr txBox="1"/>
          <p:nvPr/>
        </p:nvSpPr>
        <p:spPr>
          <a:xfrm>
            <a:off x="1028700" y="988332"/>
            <a:ext cx="1623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000" u="none" cap="none" strike="noStrike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Introduction and Problem Statement</a:t>
            </a:r>
            <a:endParaRPr sz="6000"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grpSp>
        <p:nvGrpSpPr>
          <p:cNvPr id="98" name="Google Shape;98;p2"/>
          <p:cNvGrpSpPr/>
          <p:nvPr/>
        </p:nvGrpSpPr>
        <p:grpSpPr>
          <a:xfrm>
            <a:off x="1028700" y="2291471"/>
            <a:ext cx="2734606" cy="934906"/>
            <a:chOff x="0" y="-38100"/>
            <a:chExt cx="720225" cy="246230"/>
          </a:xfrm>
        </p:grpSpPr>
        <p:sp>
          <p:nvSpPr>
            <p:cNvPr id="99" name="Google Shape;99;p2"/>
            <p:cNvSpPr/>
            <p:nvPr/>
          </p:nvSpPr>
          <p:spPr>
            <a:xfrm>
              <a:off x="0" y="0"/>
              <a:ext cx="720225" cy="208130"/>
            </a:xfrm>
            <a:custGeom>
              <a:rect b="b" l="l" r="r" t="t"/>
              <a:pathLst>
                <a:path extrusionOk="0" h="208130" w="720225">
                  <a:moveTo>
                    <a:pt x="104065" y="0"/>
                  </a:moveTo>
                  <a:lnTo>
                    <a:pt x="616160" y="0"/>
                  </a:lnTo>
                  <a:cubicBezTo>
                    <a:pt x="673634" y="0"/>
                    <a:pt x="720225" y="46592"/>
                    <a:pt x="720225" y="104065"/>
                  </a:cubicBezTo>
                  <a:lnTo>
                    <a:pt x="720225" y="104065"/>
                  </a:lnTo>
                  <a:cubicBezTo>
                    <a:pt x="720225" y="161539"/>
                    <a:pt x="673634" y="208130"/>
                    <a:pt x="616160" y="208130"/>
                  </a:cubicBezTo>
                  <a:lnTo>
                    <a:pt x="104065" y="208130"/>
                  </a:lnTo>
                  <a:cubicBezTo>
                    <a:pt x="46592" y="208130"/>
                    <a:pt x="0" y="161539"/>
                    <a:pt x="0" y="104065"/>
                  </a:cubicBezTo>
                  <a:lnTo>
                    <a:pt x="0" y="104065"/>
                  </a:lnTo>
                  <a:cubicBezTo>
                    <a:pt x="0" y="46592"/>
                    <a:pt x="46592" y="0"/>
                    <a:pt x="104065" y="0"/>
                  </a:cubicBezTo>
                  <a:close/>
                </a:path>
              </a:pathLst>
            </a:custGeom>
            <a:solidFill>
              <a:srgbClr val="EDF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0" y="-38100"/>
              <a:ext cx="720225" cy="246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" name="Google Shape;101;p2"/>
          <p:cNvSpPr txBox="1"/>
          <p:nvPr/>
        </p:nvSpPr>
        <p:spPr>
          <a:xfrm>
            <a:off x="1381399" y="2526450"/>
            <a:ext cx="2029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000" u="none" cap="none" strike="noStrike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Context</a:t>
            </a:r>
            <a:endParaRPr sz="4000"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1056002" y="3354748"/>
            <a:ext cx="81339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Every year a lot of university rankings are published over the world. The Times Higher Education World University Rankings is one of the famous and influential ones.</a:t>
            </a:r>
            <a:endParaRPr sz="30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grpSp>
        <p:nvGrpSpPr>
          <p:cNvPr id="103" name="Google Shape;103;p2"/>
          <p:cNvGrpSpPr/>
          <p:nvPr/>
        </p:nvGrpSpPr>
        <p:grpSpPr>
          <a:xfrm>
            <a:off x="1074550" y="5817669"/>
            <a:ext cx="3602966" cy="934906"/>
            <a:chOff x="0" y="-38100"/>
            <a:chExt cx="948929" cy="246230"/>
          </a:xfrm>
        </p:grpSpPr>
        <p:sp>
          <p:nvSpPr>
            <p:cNvPr id="104" name="Google Shape;104;p2"/>
            <p:cNvSpPr/>
            <p:nvPr/>
          </p:nvSpPr>
          <p:spPr>
            <a:xfrm>
              <a:off x="0" y="0"/>
              <a:ext cx="948929" cy="208130"/>
            </a:xfrm>
            <a:custGeom>
              <a:rect b="b" l="l" r="r" t="t"/>
              <a:pathLst>
                <a:path extrusionOk="0" h="208130" w="948929">
                  <a:moveTo>
                    <a:pt x="104065" y="0"/>
                  </a:moveTo>
                  <a:lnTo>
                    <a:pt x="844864" y="0"/>
                  </a:lnTo>
                  <a:cubicBezTo>
                    <a:pt x="902338" y="0"/>
                    <a:pt x="948929" y="46592"/>
                    <a:pt x="948929" y="104065"/>
                  </a:cubicBezTo>
                  <a:lnTo>
                    <a:pt x="948929" y="104065"/>
                  </a:lnTo>
                  <a:cubicBezTo>
                    <a:pt x="948929" y="161539"/>
                    <a:pt x="902338" y="208130"/>
                    <a:pt x="844864" y="208130"/>
                  </a:cubicBezTo>
                  <a:lnTo>
                    <a:pt x="104065" y="208130"/>
                  </a:lnTo>
                  <a:cubicBezTo>
                    <a:pt x="46592" y="208130"/>
                    <a:pt x="0" y="161539"/>
                    <a:pt x="0" y="104065"/>
                  </a:cubicBezTo>
                  <a:lnTo>
                    <a:pt x="0" y="104065"/>
                  </a:lnTo>
                  <a:cubicBezTo>
                    <a:pt x="0" y="46592"/>
                    <a:pt x="46592" y="0"/>
                    <a:pt x="104065" y="0"/>
                  </a:cubicBezTo>
                  <a:close/>
                </a:path>
              </a:pathLst>
            </a:custGeom>
            <a:solidFill>
              <a:srgbClr val="EDF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0" y="-38100"/>
              <a:ext cx="948929" cy="246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" name="Google Shape;106;p2"/>
          <p:cNvSpPr txBox="1"/>
          <p:nvPr/>
        </p:nvSpPr>
        <p:spPr>
          <a:xfrm>
            <a:off x="1255426" y="6032150"/>
            <a:ext cx="324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000" u="none" cap="none" strike="noStrike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The</a:t>
            </a:r>
            <a:r>
              <a:rPr lang="en-US" sz="4000">
                <a:latin typeface="Hammersmith One"/>
                <a:ea typeface="Hammersmith One"/>
                <a:cs typeface="Hammersmith One"/>
                <a:sym typeface="Hammersmith One"/>
              </a:rPr>
              <a:t> </a:t>
            </a:r>
            <a:r>
              <a:rPr i="0" lang="en-US" sz="4000" u="none" cap="none" strike="noStrike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Problem</a:t>
            </a:r>
            <a:endParaRPr sz="4000"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1074550" y="7012091"/>
            <a:ext cx="98544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official indicator weights are published and well known. However, a gap may exist between the official methodology and what is actually observed in the data. Is the ranking truly transparent?</a:t>
            </a:r>
            <a:endParaRPr i="0" sz="3000" u="none" cap="none" strike="noStrik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12234671" y="2795495"/>
            <a:ext cx="412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Key Research Question</a:t>
            </a:r>
            <a:endParaRPr sz="3000"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11546650" y="3544275"/>
            <a:ext cx="55053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Which of the five THE indicators has the greatest influence on a university's final position?</a:t>
            </a:r>
            <a:endParaRPr sz="30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11546658" y="6232539"/>
            <a:ext cx="55053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nstrument Sans"/>
              <a:buChar char="•"/>
            </a:pPr>
            <a:r>
              <a:rPr i="0" lang="en-US" sz="30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Teaching</a:t>
            </a:r>
            <a:endParaRPr sz="30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nstrument Sans"/>
              <a:buChar char="•"/>
            </a:pPr>
            <a:r>
              <a:rPr i="0" lang="en-US" sz="30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Research</a:t>
            </a:r>
            <a:endParaRPr sz="30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nstrument Sans"/>
              <a:buChar char="•"/>
            </a:pPr>
            <a:r>
              <a:rPr i="0" lang="en-US" sz="30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Citations</a:t>
            </a:r>
            <a:endParaRPr sz="30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nstrument Sans"/>
              <a:buChar char="•"/>
            </a:pPr>
            <a:r>
              <a:rPr i="0" lang="en-US" sz="30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International</a:t>
            </a:r>
            <a:endParaRPr sz="30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nstrument Sans"/>
              <a:buChar char="•"/>
            </a:pPr>
            <a:r>
              <a:rPr i="0" lang="en-US" sz="30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Income</a:t>
            </a:r>
            <a:endParaRPr sz="30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8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/>
          <p:nvPr/>
        </p:nvSpPr>
        <p:spPr>
          <a:xfrm>
            <a:off x="1028700" y="988332"/>
            <a:ext cx="1623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000" u="none" cap="none" strike="noStrike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Data and Preparation</a:t>
            </a:r>
            <a:endParaRPr sz="6000"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grpSp>
        <p:nvGrpSpPr>
          <p:cNvPr id="116" name="Google Shape;116;p3"/>
          <p:cNvGrpSpPr/>
          <p:nvPr/>
        </p:nvGrpSpPr>
        <p:grpSpPr>
          <a:xfrm>
            <a:off x="12629986" y="2528276"/>
            <a:ext cx="4731944" cy="6730024"/>
            <a:chOff x="0" y="-38100"/>
            <a:chExt cx="1246273" cy="1772517"/>
          </a:xfrm>
        </p:grpSpPr>
        <p:sp>
          <p:nvSpPr>
            <p:cNvPr id="117" name="Google Shape;117;p3"/>
            <p:cNvSpPr/>
            <p:nvPr/>
          </p:nvSpPr>
          <p:spPr>
            <a:xfrm>
              <a:off x="0" y="0"/>
              <a:ext cx="1246273" cy="1734417"/>
            </a:xfrm>
            <a:custGeom>
              <a:rect b="b" l="l" r="r" t="t"/>
              <a:pathLst>
                <a:path extrusionOk="0" h="1734417" w="1246273">
                  <a:moveTo>
                    <a:pt x="81805" y="0"/>
                  </a:moveTo>
                  <a:lnTo>
                    <a:pt x="1164469" y="0"/>
                  </a:lnTo>
                  <a:cubicBezTo>
                    <a:pt x="1209648" y="0"/>
                    <a:pt x="1246273" y="36625"/>
                    <a:pt x="1246273" y="81805"/>
                  </a:cubicBezTo>
                  <a:lnTo>
                    <a:pt x="1246273" y="1652612"/>
                  </a:lnTo>
                  <a:cubicBezTo>
                    <a:pt x="1246273" y="1697791"/>
                    <a:pt x="1209648" y="1734417"/>
                    <a:pt x="1164469" y="1734417"/>
                  </a:cubicBezTo>
                  <a:lnTo>
                    <a:pt x="81805" y="1734417"/>
                  </a:lnTo>
                  <a:cubicBezTo>
                    <a:pt x="36625" y="1734417"/>
                    <a:pt x="0" y="1697791"/>
                    <a:pt x="0" y="1652612"/>
                  </a:cubicBezTo>
                  <a:lnTo>
                    <a:pt x="0" y="81805"/>
                  </a:lnTo>
                  <a:cubicBezTo>
                    <a:pt x="0" y="36625"/>
                    <a:pt x="36625" y="0"/>
                    <a:pt x="818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3"/>
            <p:cNvSpPr txBox="1"/>
            <p:nvPr/>
          </p:nvSpPr>
          <p:spPr>
            <a:xfrm>
              <a:off x="0" y="-38100"/>
              <a:ext cx="1246273" cy="17725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" name="Google Shape;119;p3"/>
          <p:cNvGrpSpPr/>
          <p:nvPr/>
        </p:nvGrpSpPr>
        <p:grpSpPr>
          <a:xfrm>
            <a:off x="1028700" y="2476117"/>
            <a:ext cx="11334586" cy="3291090"/>
            <a:chOff x="0" y="-38100"/>
            <a:chExt cx="2985241" cy="866789"/>
          </a:xfrm>
        </p:grpSpPr>
        <p:sp>
          <p:nvSpPr>
            <p:cNvPr id="120" name="Google Shape;120;p3"/>
            <p:cNvSpPr/>
            <p:nvPr/>
          </p:nvSpPr>
          <p:spPr>
            <a:xfrm>
              <a:off x="0" y="0"/>
              <a:ext cx="2985241" cy="828689"/>
            </a:xfrm>
            <a:custGeom>
              <a:rect b="b" l="l" r="r" t="t"/>
              <a:pathLst>
                <a:path extrusionOk="0" h="828689" w="2985241">
                  <a:moveTo>
                    <a:pt x="34152" y="0"/>
                  </a:moveTo>
                  <a:lnTo>
                    <a:pt x="2951089" y="0"/>
                  </a:lnTo>
                  <a:cubicBezTo>
                    <a:pt x="2969951" y="0"/>
                    <a:pt x="2985241" y="15290"/>
                    <a:pt x="2985241" y="34152"/>
                  </a:cubicBezTo>
                  <a:lnTo>
                    <a:pt x="2985241" y="794537"/>
                  </a:lnTo>
                  <a:cubicBezTo>
                    <a:pt x="2985241" y="813399"/>
                    <a:pt x="2969951" y="828689"/>
                    <a:pt x="2951089" y="828689"/>
                  </a:cubicBezTo>
                  <a:lnTo>
                    <a:pt x="34152" y="828689"/>
                  </a:lnTo>
                  <a:cubicBezTo>
                    <a:pt x="15290" y="828689"/>
                    <a:pt x="0" y="813399"/>
                    <a:pt x="0" y="794537"/>
                  </a:cubicBezTo>
                  <a:lnTo>
                    <a:pt x="0" y="34152"/>
                  </a:lnTo>
                  <a:cubicBezTo>
                    <a:pt x="0" y="15290"/>
                    <a:pt x="15290" y="0"/>
                    <a:pt x="341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3"/>
            <p:cNvSpPr txBox="1"/>
            <p:nvPr/>
          </p:nvSpPr>
          <p:spPr>
            <a:xfrm>
              <a:off x="0" y="-38100"/>
              <a:ext cx="2985241" cy="866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3"/>
          <p:cNvGrpSpPr/>
          <p:nvPr/>
        </p:nvGrpSpPr>
        <p:grpSpPr>
          <a:xfrm>
            <a:off x="1363024" y="2832904"/>
            <a:ext cx="3376519" cy="934906"/>
            <a:chOff x="0" y="-38100"/>
            <a:chExt cx="889289" cy="246230"/>
          </a:xfrm>
        </p:grpSpPr>
        <p:sp>
          <p:nvSpPr>
            <p:cNvPr id="123" name="Google Shape;123;p3"/>
            <p:cNvSpPr/>
            <p:nvPr/>
          </p:nvSpPr>
          <p:spPr>
            <a:xfrm>
              <a:off x="0" y="0"/>
              <a:ext cx="889289" cy="208130"/>
            </a:xfrm>
            <a:custGeom>
              <a:rect b="b" l="l" r="r" t="t"/>
              <a:pathLst>
                <a:path extrusionOk="0" h="208130" w="889289">
                  <a:moveTo>
                    <a:pt x="104065" y="0"/>
                  </a:moveTo>
                  <a:lnTo>
                    <a:pt x="785224" y="0"/>
                  </a:lnTo>
                  <a:cubicBezTo>
                    <a:pt x="842697" y="0"/>
                    <a:pt x="889289" y="46592"/>
                    <a:pt x="889289" y="104065"/>
                  </a:cubicBezTo>
                  <a:lnTo>
                    <a:pt x="889289" y="104065"/>
                  </a:lnTo>
                  <a:cubicBezTo>
                    <a:pt x="889289" y="161539"/>
                    <a:pt x="842697" y="208130"/>
                    <a:pt x="785224" y="208130"/>
                  </a:cubicBezTo>
                  <a:lnTo>
                    <a:pt x="104065" y="208130"/>
                  </a:lnTo>
                  <a:cubicBezTo>
                    <a:pt x="46592" y="208130"/>
                    <a:pt x="0" y="161539"/>
                    <a:pt x="0" y="104065"/>
                  </a:cubicBezTo>
                  <a:lnTo>
                    <a:pt x="0" y="104065"/>
                  </a:lnTo>
                  <a:cubicBezTo>
                    <a:pt x="0" y="46592"/>
                    <a:pt x="46592" y="0"/>
                    <a:pt x="104065" y="0"/>
                  </a:cubicBezTo>
                  <a:close/>
                </a:path>
              </a:pathLst>
            </a:custGeom>
            <a:solidFill>
              <a:srgbClr val="EDF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3"/>
            <p:cNvSpPr txBox="1"/>
            <p:nvPr/>
          </p:nvSpPr>
          <p:spPr>
            <a:xfrm>
              <a:off x="0" y="-38100"/>
              <a:ext cx="889289" cy="246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3"/>
          <p:cNvSpPr txBox="1"/>
          <p:nvPr/>
        </p:nvSpPr>
        <p:spPr>
          <a:xfrm>
            <a:off x="1453837" y="3004388"/>
            <a:ext cx="319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000" u="none" cap="none" strike="noStrike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Data Source</a:t>
            </a:r>
            <a:endParaRPr sz="4000"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grpSp>
        <p:nvGrpSpPr>
          <p:cNvPr id="126" name="Google Shape;126;p3"/>
          <p:cNvGrpSpPr/>
          <p:nvPr/>
        </p:nvGrpSpPr>
        <p:grpSpPr>
          <a:xfrm>
            <a:off x="1363024" y="3851622"/>
            <a:ext cx="3376519" cy="1558799"/>
            <a:chOff x="0" y="-38100"/>
            <a:chExt cx="889289" cy="410548"/>
          </a:xfrm>
        </p:grpSpPr>
        <p:sp>
          <p:nvSpPr>
            <p:cNvPr id="127" name="Google Shape;127;p3"/>
            <p:cNvSpPr/>
            <p:nvPr/>
          </p:nvSpPr>
          <p:spPr>
            <a:xfrm>
              <a:off x="0" y="0"/>
              <a:ext cx="889289" cy="372448"/>
            </a:xfrm>
            <a:custGeom>
              <a:rect b="b" l="l" r="r" t="t"/>
              <a:pathLst>
                <a:path extrusionOk="0" h="372448" w="889289">
                  <a:moveTo>
                    <a:pt x="114643" y="0"/>
                  </a:moveTo>
                  <a:lnTo>
                    <a:pt x="774646" y="0"/>
                  </a:lnTo>
                  <a:cubicBezTo>
                    <a:pt x="837961" y="0"/>
                    <a:pt x="889289" y="51328"/>
                    <a:pt x="889289" y="114643"/>
                  </a:cubicBezTo>
                  <a:lnTo>
                    <a:pt x="889289" y="257804"/>
                  </a:lnTo>
                  <a:cubicBezTo>
                    <a:pt x="889289" y="288210"/>
                    <a:pt x="877211" y="317370"/>
                    <a:pt x="855711" y="338870"/>
                  </a:cubicBezTo>
                  <a:cubicBezTo>
                    <a:pt x="834211" y="360369"/>
                    <a:pt x="805051" y="372448"/>
                    <a:pt x="774646" y="372448"/>
                  </a:cubicBezTo>
                  <a:lnTo>
                    <a:pt x="114643" y="372448"/>
                  </a:lnTo>
                  <a:cubicBezTo>
                    <a:pt x="84238" y="372448"/>
                    <a:pt x="55078" y="360369"/>
                    <a:pt x="33578" y="338870"/>
                  </a:cubicBezTo>
                  <a:cubicBezTo>
                    <a:pt x="12078" y="317370"/>
                    <a:pt x="0" y="288210"/>
                    <a:pt x="0" y="257804"/>
                  </a:cubicBezTo>
                  <a:lnTo>
                    <a:pt x="0" y="114643"/>
                  </a:lnTo>
                  <a:cubicBezTo>
                    <a:pt x="0" y="84238"/>
                    <a:pt x="12078" y="55078"/>
                    <a:pt x="33578" y="33578"/>
                  </a:cubicBezTo>
                  <a:cubicBezTo>
                    <a:pt x="55078" y="12078"/>
                    <a:pt x="84238" y="0"/>
                    <a:pt x="114643" y="0"/>
                  </a:cubicBez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3"/>
            <p:cNvSpPr txBox="1"/>
            <p:nvPr/>
          </p:nvSpPr>
          <p:spPr>
            <a:xfrm>
              <a:off x="0" y="-38100"/>
              <a:ext cx="889289" cy="410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9" name="Google Shape;129;p3"/>
          <p:cNvSpPr txBox="1"/>
          <p:nvPr/>
        </p:nvSpPr>
        <p:spPr>
          <a:xfrm>
            <a:off x="2410339" y="4215325"/>
            <a:ext cx="128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2,603</a:t>
            </a:r>
            <a:endParaRPr sz="3000"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1788673" y="4766437"/>
            <a:ext cx="2525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5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Total Records</a:t>
            </a:r>
            <a:endParaRPr sz="25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grpSp>
        <p:nvGrpSpPr>
          <p:cNvPr id="131" name="Google Shape;131;p3"/>
          <p:cNvGrpSpPr/>
          <p:nvPr/>
        </p:nvGrpSpPr>
        <p:grpSpPr>
          <a:xfrm>
            <a:off x="4884445" y="3851621"/>
            <a:ext cx="3626100" cy="1558810"/>
            <a:chOff x="0" y="-38100"/>
            <a:chExt cx="955016" cy="410548"/>
          </a:xfrm>
        </p:grpSpPr>
        <p:sp>
          <p:nvSpPr>
            <p:cNvPr id="132" name="Google Shape;132;p3"/>
            <p:cNvSpPr/>
            <p:nvPr/>
          </p:nvSpPr>
          <p:spPr>
            <a:xfrm>
              <a:off x="0" y="0"/>
              <a:ext cx="955016" cy="372448"/>
            </a:xfrm>
            <a:custGeom>
              <a:rect b="b" l="l" r="r" t="t"/>
              <a:pathLst>
                <a:path extrusionOk="0" h="372448" w="955016">
                  <a:moveTo>
                    <a:pt x="106753" y="0"/>
                  </a:moveTo>
                  <a:lnTo>
                    <a:pt x="848263" y="0"/>
                  </a:lnTo>
                  <a:cubicBezTo>
                    <a:pt x="876575" y="0"/>
                    <a:pt x="903729" y="11247"/>
                    <a:pt x="923749" y="31267"/>
                  </a:cubicBezTo>
                  <a:cubicBezTo>
                    <a:pt x="943769" y="51287"/>
                    <a:pt x="955016" y="78441"/>
                    <a:pt x="955016" y="106753"/>
                  </a:cubicBezTo>
                  <a:lnTo>
                    <a:pt x="955016" y="265694"/>
                  </a:lnTo>
                  <a:cubicBezTo>
                    <a:pt x="955016" y="324653"/>
                    <a:pt x="907221" y="372448"/>
                    <a:pt x="848263" y="372448"/>
                  </a:cubicBezTo>
                  <a:lnTo>
                    <a:pt x="106753" y="372448"/>
                  </a:lnTo>
                  <a:cubicBezTo>
                    <a:pt x="78441" y="372448"/>
                    <a:pt x="51287" y="361201"/>
                    <a:pt x="31267" y="341180"/>
                  </a:cubicBezTo>
                  <a:cubicBezTo>
                    <a:pt x="11247" y="321160"/>
                    <a:pt x="0" y="294007"/>
                    <a:pt x="0" y="265694"/>
                  </a:cubicBezTo>
                  <a:lnTo>
                    <a:pt x="0" y="106753"/>
                  </a:lnTo>
                  <a:cubicBezTo>
                    <a:pt x="0" y="78441"/>
                    <a:pt x="11247" y="51287"/>
                    <a:pt x="31267" y="31267"/>
                  </a:cubicBezTo>
                  <a:cubicBezTo>
                    <a:pt x="51287" y="11247"/>
                    <a:pt x="78441" y="0"/>
                    <a:pt x="106753" y="0"/>
                  </a:cubicBez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3"/>
            <p:cNvSpPr txBox="1"/>
            <p:nvPr/>
          </p:nvSpPr>
          <p:spPr>
            <a:xfrm>
              <a:off x="0" y="-38100"/>
              <a:ext cx="955016" cy="410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" name="Google Shape;134;p3"/>
          <p:cNvSpPr txBox="1"/>
          <p:nvPr/>
        </p:nvSpPr>
        <p:spPr>
          <a:xfrm>
            <a:off x="6168151" y="4215325"/>
            <a:ext cx="105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818</a:t>
            </a:r>
            <a:endParaRPr sz="3000"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5434872" y="4766437"/>
            <a:ext cx="2525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5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Universities</a:t>
            </a:r>
            <a:endParaRPr sz="25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grpSp>
        <p:nvGrpSpPr>
          <p:cNvPr id="136" name="Google Shape;136;p3"/>
          <p:cNvGrpSpPr/>
          <p:nvPr/>
        </p:nvGrpSpPr>
        <p:grpSpPr>
          <a:xfrm>
            <a:off x="8652442" y="3851622"/>
            <a:ext cx="3376519" cy="1558799"/>
            <a:chOff x="0" y="-38100"/>
            <a:chExt cx="889289" cy="410548"/>
          </a:xfrm>
        </p:grpSpPr>
        <p:sp>
          <p:nvSpPr>
            <p:cNvPr id="137" name="Google Shape;137;p3"/>
            <p:cNvSpPr/>
            <p:nvPr/>
          </p:nvSpPr>
          <p:spPr>
            <a:xfrm>
              <a:off x="0" y="0"/>
              <a:ext cx="889289" cy="372448"/>
            </a:xfrm>
            <a:custGeom>
              <a:rect b="b" l="l" r="r" t="t"/>
              <a:pathLst>
                <a:path extrusionOk="0" h="372448" w="889289">
                  <a:moveTo>
                    <a:pt x="114643" y="0"/>
                  </a:moveTo>
                  <a:lnTo>
                    <a:pt x="774646" y="0"/>
                  </a:lnTo>
                  <a:cubicBezTo>
                    <a:pt x="837961" y="0"/>
                    <a:pt x="889289" y="51328"/>
                    <a:pt x="889289" y="114643"/>
                  </a:cubicBezTo>
                  <a:lnTo>
                    <a:pt x="889289" y="257804"/>
                  </a:lnTo>
                  <a:cubicBezTo>
                    <a:pt x="889289" y="288210"/>
                    <a:pt x="877211" y="317370"/>
                    <a:pt x="855711" y="338870"/>
                  </a:cubicBezTo>
                  <a:cubicBezTo>
                    <a:pt x="834211" y="360369"/>
                    <a:pt x="805051" y="372448"/>
                    <a:pt x="774646" y="372448"/>
                  </a:cubicBezTo>
                  <a:lnTo>
                    <a:pt x="114643" y="372448"/>
                  </a:lnTo>
                  <a:cubicBezTo>
                    <a:pt x="84238" y="372448"/>
                    <a:pt x="55078" y="360369"/>
                    <a:pt x="33578" y="338870"/>
                  </a:cubicBezTo>
                  <a:cubicBezTo>
                    <a:pt x="12078" y="317370"/>
                    <a:pt x="0" y="288210"/>
                    <a:pt x="0" y="257804"/>
                  </a:cubicBezTo>
                  <a:lnTo>
                    <a:pt x="0" y="114643"/>
                  </a:lnTo>
                  <a:cubicBezTo>
                    <a:pt x="0" y="84238"/>
                    <a:pt x="12078" y="55078"/>
                    <a:pt x="33578" y="33578"/>
                  </a:cubicBezTo>
                  <a:cubicBezTo>
                    <a:pt x="55078" y="12078"/>
                    <a:pt x="84238" y="0"/>
                    <a:pt x="114643" y="0"/>
                  </a:cubicBez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3"/>
            <p:cNvSpPr txBox="1"/>
            <p:nvPr/>
          </p:nvSpPr>
          <p:spPr>
            <a:xfrm>
              <a:off x="0" y="-38100"/>
              <a:ext cx="889289" cy="410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" name="Google Shape;139;p3"/>
          <p:cNvSpPr txBox="1"/>
          <p:nvPr/>
        </p:nvSpPr>
        <p:spPr>
          <a:xfrm>
            <a:off x="9974854" y="4215325"/>
            <a:ext cx="73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72</a:t>
            </a:r>
            <a:endParaRPr sz="3000"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9078091" y="4766437"/>
            <a:ext cx="2525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5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Countries</a:t>
            </a:r>
            <a:endParaRPr sz="25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grpSp>
        <p:nvGrpSpPr>
          <p:cNvPr id="141" name="Google Shape;141;p3"/>
          <p:cNvGrpSpPr/>
          <p:nvPr/>
        </p:nvGrpSpPr>
        <p:grpSpPr>
          <a:xfrm>
            <a:off x="13095575" y="2832904"/>
            <a:ext cx="3800766" cy="934906"/>
            <a:chOff x="0" y="-38100"/>
            <a:chExt cx="1001025" cy="246230"/>
          </a:xfrm>
        </p:grpSpPr>
        <p:sp>
          <p:nvSpPr>
            <p:cNvPr id="142" name="Google Shape;142;p3"/>
            <p:cNvSpPr/>
            <p:nvPr/>
          </p:nvSpPr>
          <p:spPr>
            <a:xfrm>
              <a:off x="0" y="0"/>
              <a:ext cx="1001025" cy="208130"/>
            </a:xfrm>
            <a:custGeom>
              <a:rect b="b" l="l" r="r" t="t"/>
              <a:pathLst>
                <a:path extrusionOk="0" h="208130" w="1001025">
                  <a:moveTo>
                    <a:pt x="101847" y="0"/>
                  </a:moveTo>
                  <a:lnTo>
                    <a:pt x="899178" y="0"/>
                  </a:lnTo>
                  <a:cubicBezTo>
                    <a:pt x="955426" y="0"/>
                    <a:pt x="1001025" y="45598"/>
                    <a:pt x="1001025" y="101847"/>
                  </a:cubicBezTo>
                  <a:lnTo>
                    <a:pt x="1001025" y="106284"/>
                  </a:lnTo>
                  <a:cubicBezTo>
                    <a:pt x="1001025" y="162532"/>
                    <a:pt x="955426" y="208130"/>
                    <a:pt x="899178" y="208130"/>
                  </a:cubicBezTo>
                  <a:lnTo>
                    <a:pt x="101847" y="208130"/>
                  </a:lnTo>
                  <a:cubicBezTo>
                    <a:pt x="45598" y="208130"/>
                    <a:pt x="0" y="162532"/>
                    <a:pt x="0" y="106284"/>
                  </a:cubicBezTo>
                  <a:lnTo>
                    <a:pt x="0" y="101847"/>
                  </a:lnTo>
                  <a:cubicBezTo>
                    <a:pt x="0" y="45598"/>
                    <a:pt x="45598" y="0"/>
                    <a:pt x="101847" y="0"/>
                  </a:cubicBezTo>
                  <a:close/>
                </a:path>
              </a:pathLst>
            </a:custGeom>
            <a:solidFill>
              <a:srgbClr val="EDF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3"/>
            <p:cNvSpPr txBox="1"/>
            <p:nvPr/>
          </p:nvSpPr>
          <p:spPr>
            <a:xfrm>
              <a:off x="0" y="-38100"/>
              <a:ext cx="1001025" cy="246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4" name="Google Shape;144;p3"/>
          <p:cNvSpPr txBox="1"/>
          <p:nvPr/>
        </p:nvSpPr>
        <p:spPr>
          <a:xfrm>
            <a:off x="13218265" y="3004388"/>
            <a:ext cx="3555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000" u="none" cap="none" strike="noStrike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Data Cleaning</a:t>
            </a:r>
            <a:endParaRPr sz="4000"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45" name="Google Shape;145;p3"/>
          <p:cNvSpPr txBox="1"/>
          <p:nvPr/>
        </p:nvSpPr>
        <p:spPr>
          <a:xfrm>
            <a:off x="12363275" y="4688975"/>
            <a:ext cx="49182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nstrument Sans"/>
              <a:buChar char="•"/>
            </a:pPr>
            <a:r>
              <a:rPr i="0" lang="en-US" sz="30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Range ranks excluded</a:t>
            </a:r>
            <a:endParaRPr sz="30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3000" u="none" cap="none" strike="noStrik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23850" lvl="1" marL="64770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nstrument Sans"/>
              <a:buChar char="•"/>
            </a:pPr>
            <a:r>
              <a:rPr i="0" lang="en-US" sz="30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Missing values handled</a:t>
            </a:r>
            <a:endParaRPr sz="30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3000" u="none" cap="none" strike="noStrik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23850" lvl="1" marL="64770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nstrument Sans"/>
              <a:buChar char="•"/>
            </a:pPr>
            <a:r>
              <a:rPr i="0" lang="en-US" sz="30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Irrelevant columns removed</a:t>
            </a:r>
            <a:endParaRPr sz="30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grpSp>
        <p:nvGrpSpPr>
          <p:cNvPr id="146" name="Google Shape;146;p3"/>
          <p:cNvGrpSpPr/>
          <p:nvPr/>
        </p:nvGrpSpPr>
        <p:grpSpPr>
          <a:xfrm>
            <a:off x="1028700" y="5967210"/>
            <a:ext cx="11334586" cy="3291090"/>
            <a:chOff x="0" y="-38100"/>
            <a:chExt cx="2985241" cy="866789"/>
          </a:xfrm>
        </p:grpSpPr>
        <p:sp>
          <p:nvSpPr>
            <p:cNvPr id="147" name="Google Shape;147;p3"/>
            <p:cNvSpPr/>
            <p:nvPr/>
          </p:nvSpPr>
          <p:spPr>
            <a:xfrm>
              <a:off x="0" y="0"/>
              <a:ext cx="2985241" cy="828689"/>
            </a:xfrm>
            <a:custGeom>
              <a:rect b="b" l="l" r="r" t="t"/>
              <a:pathLst>
                <a:path extrusionOk="0" h="828689" w="2985241">
                  <a:moveTo>
                    <a:pt x="34152" y="0"/>
                  </a:moveTo>
                  <a:lnTo>
                    <a:pt x="2951089" y="0"/>
                  </a:lnTo>
                  <a:cubicBezTo>
                    <a:pt x="2969951" y="0"/>
                    <a:pt x="2985241" y="15290"/>
                    <a:pt x="2985241" y="34152"/>
                  </a:cubicBezTo>
                  <a:lnTo>
                    <a:pt x="2985241" y="794537"/>
                  </a:lnTo>
                  <a:cubicBezTo>
                    <a:pt x="2985241" y="813399"/>
                    <a:pt x="2969951" y="828689"/>
                    <a:pt x="2951089" y="828689"/>
                  </a:cubicBezTo>
                  <a:lnTo>
                    <a:pt x="34152" y="828689"/>
                  </a:lnTo>
                  <a:cubicBezTo>
                    <a:pt x="15290" y="828689"/>
                    <a:pt x="0" y="813399"/>
                    <a:pt x="0" y="794537"/>
                  </a:cubicBezTo>
                  <a:lnTo>
                    <a:pt x="0" y="34152"/>
                  </a:lnTo>
                  <a:cubicBezTo>
                    <a:pt x="0" y="15290"/>
                    <a:pt x="15290" y="0"/>
                    <a:pt x="341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3"/>
            <p:cNvSpPr txBox="1"/>
            <p:nvPr/>
          </p:nvSpPr>
          <p:spPr>
            <a:xfrm>
              <a:off x="0" y="-38100"/>
              <a:ext cx="2985241" cy="866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" name="Google Shape;149;p3"/>
          <p:cNvGrpSpPr/>
          <p:nvPr/>
        </p:nvGrpSpPr>
        <p:grpSpPr>
          <a:xfrm>
            <a:off x="1363024" y="6323997"/>
            <a:ext cx="3834733" cy="934906"/>
            <a:chOff x="0" y="-38100"/>
            <a:chExt cx="1009971" cy="246230"/>
          </a:xfrm>
        </p:grpSpPr>
        <p:sp>
          <p:nvSpPr>
            <p:cNvPr id="150" name="Google Shape;150;p3"/>
            <p:cNvSpPr/>
            <p:nvPr/>
          </p:nvSpPr>
          <p:spPr>
            <a:xfrm>
              <a:off x="0" y="0"/>
              <a:ext cx="1009971" cy="208130"/>
            </a:xfrm>
            <a:custGeom>
              <a:rect b="b" l="l" r="r" t="t"/>
              <a:pathLst>
                <a:path extrusionOk="0" h="208130" w="1009971">
                  <a:moveTo>
                    <a:pt x="100945" y="0"/>
                  </a:moveTo>
                  <a:lnTo>
                    <a:pt x="909026" y="0"/>
                  </a:lnTo>
                  <a:cubicBezTo>
                    <a:pt x="935798" y="0"/>
                    <a:pt x="961474" y="10635"/>
                    <a:pt x="980405" y="29566"/>
                  </a:cubicBezTo>
                  <a:cubicBezTo>
                    <a:pt x="999336" y="48497"/>
                    <a:pt x="1009971" y="74173"/>
                    <a:pt x="1009971" y="100945"/>
                  </a:cubicBezTo>
                  <a:lnTo>
                    <a:pt x="1009971" y="107186"/>
                  </a:lnTo>
                  <a:cubicBezTo>
                    <a:pt x="1009971" y="162936"/>
                    <a:pt x="964776" y="208130"/>
                    <a:pt x="909026" y="208130"/>
                  </a:cubicBezTo>
                  <a:lnTo>
                    <a:pt x="100945" y="208130"/>
                  </a:lnTo>
                  <a:cubicBezTo>
                    <a:pt x="74173" y="208130"/>
                    <a:pt x="48497" y="197495"/>
                    <a:pt x="29566" y="178564"/>
                  </a:cubicBezTo>
                  <a:cubicBezTo>
                    <a:pt x="10635" y="159634"/>
                    <a:pt x="0" y="133958"/>
                    <a:pt x="0" y="107186"/>
                  </a:cubicBezTo>
                  <a:lnTo>
                    <a:pt x="0" y="100945"/>
                  </a:lnTo>
                  <a:cubicBezTo>
                    <a:pt x="0" y="74173"/>
                    <a:pt x="10635" y="48497"/>
                    <a:pt x="29566" y="29566"/>
                  </a:cubicBezTo>
                  <a:cubicBezTo>
                    <a:pt x="48497" y="10635"/>
                    <a:pt x="74173" y="0"/>
                    <a:pt x="100945" y="0"/>
                  </a:cubicBezTo>
                  <a:close/>
                </a:path>
              </a:pathLst>
            </a:custGeom>
            <a:solidFill>
              <a:srgbClr val="EDF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3"/>
            <p:cNvSpPr txBox="1"/>
            <p:nvPr/>
          </p:nvSpPr>
          <p:spPr>
            <a:xfrm>
              <a:off x="0" y="-38100"/>
              <a:ext cx="1009971" cy="246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2" name="Google Shape;152;p3"/>
          <p:cNvSpPr txBox="1"/>
          <p:nvPr/>
        </p:nvSpPr>
        <p:spPr>
          <a:xfrm>
            <a:off x="1408430" y="6495481"/>
            <a:ext cx="3743920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Analysis Focus</a:t>
            </a:r>
            <a:endParaRPr/>
          </a:p>
        </p:txBody>
      </p:sp>
      <p:grpSp>
        <p:nvGrpSpPr>
          <p:cNvPr id="153" name="Google Shape;153;p3"/>
          <p:cNvGrpSpPr/>
          <p:nvPr/>
        </p:nvGrpSpPr>
        <p:grpSpPr>
          <a:xfrm>
            <a:off x="1363024" y="7342715"/>
            <a:ext cx="3376519" cy="1558799"/>
            <a:chOff x="0" y="-38100"/>
            <a:chExt cx="889289" cy="410548"/>
          </a:xfrm>
        </p:grpSpPr>
        <p:sp>
          <p:nvSpPr>
            <p:cNvPr id="154" name="Google Shape;154;p3"/>
            <p:cNvSpPr/>
            <p:nvPr/>
          </p:nvSpPr>
          <p:spPr>
            <a:xfrm>
              <a:off x="0" y="0"/>
              <a:ext cx="889289" cy="372448"/>
            </a:xfrm>
            <a:custGeom>
              <a:rect b="b" l="l" r="r" t="t"/>
              <a:pathLst>
                <a:path extrusionOk="0" h="372448" w="889289">
                  <a:moveTo>
                    <a:pt x="114643" y="0"/>
                  </a:moveTo>
                  <a:lnTo>
                    <a:pt x="774646" y="0"/>
                  </a:lnTo>
                  <a:cubicBezTo>
                    <a:pt x="837961" y="0"/>
                    <a:pt x="889289" y="51328"/>
                    <a:pt x="889289" y="114643"/>
                  </a:cubicBezTo>
                  <a:lnTo>
                    <a:pt x="889289" y="257804"/>
                  </a:lnTo>
                  <a:cubicBezTo>
                    <a:pt x="889289" y="288210"/>
                    <a:pt x="877211" y="317370"/>
                    <a:pt x="855711" y="338870"/>
                  </a:cubicBezTo>
                  <a:cubicBezTo>
                    <a:pt x="834211" y="360369"/>
                    <a:pt x="805051" y="372448"/>
                    <a:pt x="774646" y="372448"/>
                  </a:cubicBezTo>
                  <a:lnTo>
                    <a:pt x="114643" y="372448"/>
                  </a:lnTo>
                  <a:cubicBezTo>
                    <a:pt x="84238" y="372448"/>
                    <a:pt x="55078" y="360369"/>
                    <a:pt x="33578" y="338870"/>
                  </a:cubicBezTo>
                  <a:cubicBezTo>
                    <a:pt x="12078" y="317370"/>
                    <a:pt x="0" y="288210"/>
                    <a:pt x="0" y="257804"/>
                  </a:cubicBezTo>
                  <a:lnTo>
                    <a:pt x="0" y="114643"/>
                  </a:lnTo>
                  <a:cubicBezTo>
                    <a:pt x="0" y="84238"/>
                    <a:pt x="12078" y="55078"/>
                    <a:pt x="33578" y="33578"/>
                  </a:cubicBezTo>
                  <a:cubicBezTo>
                    <a:pt x="55078" y="12078"/>
                    <a:pt x="84238" y="0"/>
                    <a:pt x="114643" y="0"/>
                  </a:cubicBez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3"/>
            <p:cNvSpPr txBox="1"/>
            <p:nvPr/>
          </p:nvSpPr>
          <p:spPr>
            <a:xfrm>
              <a:off x="0" y="-38100"/>
              <a:ext cx="889289" cy="410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p3"/>
          <p:cNvSpPr txBox="1"/>
          <p:nvPr/>
        </p:nvSpPr>
        <p:spPr>
          <a:xfrm>
            <a:off x="2410372" y="7680100"/>
            <a:ext cx="128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2015</a:t>
            </a:r>
            <a:endParaRPr sz="3000"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57" name="Google Shape;157;p3"/>
          <p:cNvSpPr txBox="1"/>
          <p:nvPr/>
        </p:nvSpPr>
        <p:spPr>
          <a:xfrm>
            <a:off x="1788673" y="8257530"/>
            <a:ext cx="2525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5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Year</a:t>
            </a:r>
            <a:endParaRPr sz="25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grpSp>
        <p:nvGrpSpPr>
          <p:cNvPr id="158" name="Google Shape;158;p3"/>
          <p:cNvGrpSpPr/>
          <p:nvPr/>
        </p:nvGrpSpPr>
        <p:grpSpPr>
          <a:xfrm>
            <a:off x="4884445" y="7342715"/>
            <a:ext cx="3626076" cy="1558799"/>
            <a:chOff x="0" y="-38100"/>
            <a:chExt cx="955016" cy="410548"/>
          </a:xfrm>
        </p:grpSpPr>
        <p:sp>
          <p:nvSpPr>
            <p:cNvPr id="159" name="Google Shape;159;p3"/>
            <p:cNvSpPr/>
            <p:nvPr/>
          </p:nvSpPr>
          <p:spPr>
            <a:xfrm>
              <a:off x="0" y="0"/>
              <a:ext cx="955016" cy="372448"/>
            </a:xfrm>
            <a:custGeom>
              <a:rect b="b" l="l" r="r" t="t"/>
              <a:pathLst>
                <a:path extrusionOk="0" h="372448" w="955016">
                  <a:moveTo>
                    <a:pt x="106753" y="0"/>
                  </a:moveTo>
                  <a:lnTo>
                    <a:pt x="848263" y="0"/>
                  </a:lnTo>
                  <a:cubicBezTo>
                    <a:pt x="876575" y="0"/>
                    <a:pt x="903729" y="11247"/>
                    <a:pt x="923749" y="31267"/>
                  </a:cubicBezTo>
                  <a:cubicBezTo>
                    <a:pt x="943769" y="51287"/>
                    <a:pt x="955016" y="78441"/>
                    <a:pt x="955016" y="106753"/>
                  </a:cubicBezTo>
                  <a:lnTo>
                    <a:pt x="955016" y="265694"/>
                  </a:lnTo>
                  <a:cubicBezTo>
                    <a:pt x="955016" y="324653"/>
                    <a:pt x="907221" y="372448"/>
                    <a:pt x="848263" y="372448"/>
                  </a:cubicBezTo>
                  <a:lnTo>
                    <a:pt x="106753" y="372448"/>
                  </a:lnTo>
                  <a:cubicBezTo>
                    <a:pt x="78441" y="372448"/>
                    <a:pt x="51287" y="361201"/>
                    <a:pt x="31267" y="341180"/>
                  </a:cubicBezTo>
                  <a:cubicBezTo>
                    <a:pt x="11247" y="321160"/>
                    <a:pt x="0" y="294007"/>
                    <a:pt x="0" y="265694"/>
                  </a:cubicBezTo>
                  <a:lnTo>
                    <a:pt x="0" y="106753"/>
                  </a:lnTo>
                  <a:cubicBezTo>
                    <a:pt x="0" y="78441"/>
                    <a:pt x="11247" y="51287"/>
                    <a:pt x="31267" y="31267"/>
                  </a:cubicBezTo>
                  <a:cubicBezTo>
                    <a:pt x="51287" y="11247"/>
                    <a:pt x="78441" y="0"/>
                    <a:pt x="106753" y="0"/>
                  </a:cubicBez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3"/>
            <p:cNvSpPr txBox="1"/>
            <p:nvPr/>
          </p:nvSpPr>
          <p:spPr>
            <a:xfrm>
              <a:off x="0" y="-38100"/>
              <a:ext cx="955016" cy="410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1" name="Google Shape;161;p3"/>
          <p:cNvSpPr txBox="1"/>
          <p:nvPr/>
        </p:nvSpPr>
        <p:spPr>
          <a:xfrm>
            <a:off x="6267302" y="7680100"/>
            <a:ext cx="85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201</a:t>
            </a:r>
            <a:endParaRPr sz="3000"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62" name="Google Shape;162;p3"/>
          <p:cNvSpPr txBox="1"/>
          <p:nvPr/>
        </p:nvSpPr>
        <p:spPr>
          <a:xfrm>
            <a:off x="4917311" y="8257530"/>
            <a:ext cx="3557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5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Universities in data set</a:t>
            </a:r>
            <a:endParaRPr sz="25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grpSp>
        <p:nvGrpSpPr>
          <p:cNvPr id="163" name="Google Shape;163;p3"/>
          <p:cNvGrpSpPr/>
          <p:nvPr/>
        </p:nvGrpSpPr>
        <p:grpSpPr>
          <a:xfrm>
            <a:off x="8652442" y="7342715"/>
            <a:ext cx="3376519" cy="1558799"/>
            <a:chOff x="0" y="-38100"/>
            <a:chExt cx="889289" cy="410548"/>
          </a:xfrm>
        </p:grpSpPr>
        <p:sp>
          <p:nvSpPr>
            <p:cNvPr id="164" name="Google Shape;164;p3"/>
            <p:cNvSpPr/>
            <p:nvPr/>
          </p:nvSpPr>
          <p:spPr>
            <a:xfrm>
              <a:off x="0" y="0"/>
              <a:ext cx="889289" cy="372448"/>
            </a:xfrm>
            <a:custGeom>
              <a:rect b="b" l="l" r="r" t="t"/>
              <a:pathLst>
                <a:path extrusionOk="0" h="372448" w="889289">
                  <a:moveTo>
                    <a:pt x="114643" y="0"/>
                  </a:moveTo>
                  <a:lnTo>
                    <a:pt x="774646" y="0"/>
                  </a:lnTo>
                  <a:cubicBezTo>
                    <a:pt x="837961" y="0"/>
                    <a:pt x="889289" y="51328"/>
                    <a:pt x="889289" y="114643"/>
                  </a:cubicBezTo>
                  <a:lnTo>
                    <a:pt x="889289" y="257804"/>
                  </a:lnTo>
                  <a:cubicBezTo>
                    <a:pt x="889289" y="288210"/>
                    <a:pt x="877211" y="317370"/>
                    <a:pt x="855711" y="338870"/>
                  </a:cubicBezTo>
                  <a:cubicBezTo>
                    <a:pt x="834211" y="360369"/>
                    <a:pt x="805051" y="372448"/>
                    <a:pt x="774646" y="372448"/>
                  </a:cubicBezTo>
                  <a:lnTo>
                    <a:pt x="114643" y="372448"/>
                  </a:lnTo>
                  <a:cubicBezTo>
                    <a:pt x="84238" y="372448"/>
                    <a:pt x="55078" y="360369"/>
                    <a:pt x="33578" y="338870"/>
                  </a:cubicBezTo>
                  <a:cubicBezTo>
                    <a:pt x="12078" y="317370"/>
                    <a:pt x="0" y="288210"/>
                    <a:pt x="0" y="257804"/>
                  </a:cubicBezTo>
                  <a:lnTo>
                    <a:pt x="0" y="114643"/>
                  </a:lnTo>
                  <a:cubicBezTo>
                    <a:pt x="0" y="84238"/>
                    <a:pt x="12078" y="55078"/>
                    <a:pt x="33578" y="33578"/>
                  </a:cubicBezTo>
                  <a:cubicBezTo>
                    <a:pt x="55078" y="12078"/>
                    <a:pt x="84238" y="0"/>
                    <a:pt x="114643" y="0"/>
                  </a:cubicBez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3"/>
            <p:cNvSpPr txBox="1"/>
            <p:nvPr/>
          </p:nvSpPr>
          <p:spPr>
            <a:xfrm>
              <a:off x="0" y="-38100"/>
              <a:ext cx="889289" cy="410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" name="Google Shape;166;p3"/>
          <p:cNvSpPr txBox="1"/>
          <p:nvPr/>
        </p:nvSpPr>
        <p:spPr>
          <a:xfrm>
            <a:off x="9812855" y="7680100"/>
            <a:ext cx="105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1201</a:t>
            </a:r>
            <a:endParaRPr sz="3000"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67" name="Google Shape;167;p3"/>
          <p:cNvSpPr txBox="1"/>
          <p:nvPr/>
        </p:nvSpPr>
        <p:spPr>
          <a:xfrm>
            <a:off x="8652442" y="8257530"/>
            <a:ext cx="3376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5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All years combined</a:t>
            </a:r>
            <a:endParaRPr sz="25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8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oogle Shape;172;p4"/>
          <p:cNvGrpSpPr/>
          <p:nvPr/>
        </p:nvGrpSpPr>
        <p:grpSpPr>
          <a:xfrm>
            <a:off x="12061788" y="2201605"/>
            <a:ext cx="5197512" cy="7056695"/>
            <a:chOff x="0" y="-38100"/>
            <a:chExt cx="1368892" cy="1858554"/>
          </a:xfrm>
        </p:grpSpPr>
        <p:sp>
          <p:nvSpPr>
            <p:cNvPr id="173" name="Google Shape;173;p4"/>
            <p:cNvSpPr/>
            <p:nvPr/>
          </p:nvSpPr>
          <p:spPr>
            <a:xfrm>
              <a:off x="0" y="0"/>
              <a:ext cx="1368892" cy="1820453"/>
            </a:xfrm>
            <a:custGeom>
              <a:rect b="b" l="l" r="r" t="t"/>
              <a:pathLst>
                <a:path extrusionOk="0" h="1820453" w="1368892">
                  <a:moveTo>
                    <a:pt x="74477" y="0"/>
                  </a:moveTo>
                  <a:lnTo>
                    <a:pt x="1294415" y="0"/>
                  </a:lnTo>
                  <a:cubicBezTo>
                    <a:pt x="1335548" y="0"/>
                    <a:pt x="1368892" y="33345"/>
                    <a:pt x="1368892" y="74477"/>
                  </a:cubicBezTo>
                  <a:lnTo>
                    <a:pt x="1368892" y="1745976"/>
                  </a:lnTo>
                  <a:cubicBezTo>
                    <a:pt x="1368892" y="1765729"/>
                    <a:pt x="1361045" y="1784672"/>
                    <a:pt x="1347078" y="1798640"/>
                  </a:cubicBezTo>
                  <a:cubicBezTo>
                    <a:pt x="1333111" y="1812607"/>
                    <a:pt x="1314168" y="1820453"/>
                    <a:pt x="1294415" y="1820453"/>
                  </a:cubicBezTo>
                  <a:lnTo>
                    <a:pt x="74477" y="1820453"/>
                  </a:lnTo>
                  <a:cubicBezTo>
                    <a:pt x="33345" y="1820453"/>
                    <a:pt x="0" y="1787109"/>
                    <a:pt x="0" y="1745976"/>
                  </a:cubicBezTo>
                  <a:lnTo>
                    <a:pt x="0" y="74477"/>
                  </a:lnTo>
                  <a:cubicBezTo>
                    <a:pt x="0" y="33345"/>
                    <a:pt x="33345" y="0"/>
                    <a:pt x="744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4"/>
            <p:cNvSpPr txBox="1"/>
            <p:nvPr/>
          </p:nvSpPr>
          <p:spPr>
            <a:xfrm>
              <a:off x="0" y="-38100"/>
              <a:ext cx="1368892" cy="185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5" name="Google Shape;175;p4"/>
          <p:cNvGrpSpPr/>
          <p:nvPr/>
        </p:nvGrpSpPr>
        <p:grpSpPr>
          <a:xfrm>
            <a:off x="12760161" y="2608303"/>
            <a:ext cx="3800766" cy="934906"/>
            <a:chOff x="0" y="-38100"/>
            <a:chExt cx="1001025" cy="246230"/>
          </a:xfrm>
        </p:grpSpPr>
        <p:sp>
          <p:nvSpPr>
            <p:cNvPr id="176" name="Google Shape;176;p4"/>
            <p:cNvSpPr/>
            <p:nvPr/>
          </p:nvSpPr>
          <p:spPr>
            <a:xfrm>
              <a:off x="0" y="0"/>
              <a:ext cx="1001025" cy="208130"/>
            </a:xfrm>
            <a:custGeom>
              <a:rect b="b" l="l" r="r" t="t"/>
              <a:pathLst>
                <a:path extrusionOk="0" h="208130" w="1001025">
                  <a:moveTo>
                    <a:pt x="101847" y="0"/>
                  </a:moveTo>
                  <a:lnTo>
                    <a:pt x="899178" y="0"/>
                  </a:lnTo>
                  <a:cubicBezTo>
                    <a:pt x="955426" y="0"/>
                    <a:pt x="1001025" y="45598"/>
                    <a:pt x="1001025" y="101847"/>
                  </a:cubicBezTo>
                  <a:lnTo>
                    <a:pt x="1001025" y="106284"/>
                  </a:lnTo>
                  <a:cubicBezTo>
                    <a:pt x="1001025" y="162532"/>
                    <a:pt x="955426" y="208130"/>
                    <a:pt x="899178" y="208130"/>
                  </a:cubicBezTo>
                  <a:lnTo>
                    <a:pt x="101847" y="208130"/>
                  </a:lnTo>
                  <a:cubicBezTo>
                    <a:pt x="45598" y="208130"/>
                    <a:pt x="0" y="162532"/>
                    <a:pt x="0" y="106284"/>
                  </a:cubicBezTo>
                  <a:lnTo>
                    <a:pt x="0" y="101847"/>
                  </a:lnTo>
                  <a:cubicBezTo>
                    <a:pt x="0" y="45598"/>
                    <a:pt x="45598" y="0"/>
                    <a:pt x="101847" y="0"/>
                  </a:cubicBezTo>
                  <a:close/>
                </a:path>
              </a:pathLst>
            </a:custGeom>
            <a:solidFill>
              <a:srgbClr val="EDF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4"/>
            <p:cNvSpPr txBox="1"/>
            <p:nvPr/>
          </p:nvSpPr>
          <p:spPr>
            <a:xfrm>
              <a:off x="0" y="-38100"/>
              <a:ext cx="1001025" cy="246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" name="Google Shape;178;p4"/>
          <p:cNvGrpSpPr/>
          <p:nvPr/>
        </p:nvGrpSpPr>
        <p:grpSpPr>
          <a:xfrm>
            <a:off x="12248762" y="5327432"/>
            <a:ext cx="4823563" cy="934906"/>
            <a:chOff x="0" y="-38100"/>
            <a:chExt cx="1270404" cy="246230"/>
          </a:xfrm>
        </p:grpSpPr>
        <p:sp>
          <p:nvSpPr>
            <p:cNvPr id="179" name="Google Shape;179;p4"/>
            <p:cNvSpPr/>
            <p:nvPr/>
          </p:nvSpPr>
          <p:spPr>
            <a:xfrm>
              <a:off x="0" y="0"/>
              <a:ext cx="1270404" cy="208130"/>
            </a:xfrm>
            <a:custGeom>
              <a:rect b="b" l="l" r="r" t="t"/>
              <a:pathLst>
                <a:path extrusionOk="0" h="208130" w="1270404">
                  <a:moveTo>
                    <a:pt x="80251" y="0"/>
                  </a:moveTo>
                  <a:lnTo>
                    <a:pt x="1190153" y="0"/>
                  </a:lnTo>
                  <a:cubicBezTo>
                    <a:pt x="1211436" y="0"/>
                    <a:pt x="1231849" y="8455"/>
                    <a:pt x="1246899" y="23505"/>
                  </a:cubicBezTo>
                  <a:cubicBezTo>
                    <a:pt x="1261949" y="38555"/>
                    <a:pt x="1270404" y="58967"/>
                    <a:pt x="1270404" y="80251"/>
                  </a:cubicBezTo>
                  <a:lnTo>
                    <a:pt x="1270404" y="127879"/>
                  </a:lnTo>
                  <a:cubicBezTo>
                    <a:pt x="1270404" y="172201"/>
                    <a:pt x="1234474" y="208130"/>
                    <a:pt x="1190153" y="208130"/>
                  </a:cubicBezTo>
                  <a:lnTo>
                    <a:pt x="80251" y="208130"/>
                  </a:lnTo>
                  <a:cubicBezTo>
                    <a:pt x="58967" y="208130"/>
                    <a:pt x="38555" y="199675"/>
                    <a:pt x="23505" y="184625"/>
                  </a:cubicBezTo>
                  <a:cubicBezTo>
                    <a:pt x="8455" y="169575"/>
                    <a:pt x="0" y="149163"/>
                    <a:pt x="0" y="127879"/>
                  </a:cubicBezTo>
                  <a:lnTo>
                    <a:pt x="0" y="80251"/>
                  </a:lnTo>
                  <a:cubicBezTo>
                    <a:pt x="0" y="58967"/>
                    <a:pt x="8455" y="38555"/>
                    <a:pt x="23505" y="23505"/>
                  </a:cubicBezTo>
                  <a:cubicBezTo>
                    <a:pt x="38555" y="8455"/>
                    <a:pt x="58967" y="0"/>
                    <a:pt x="80251" y="0"/>
                  </a:cubicBezTo>
                  <a:close/>
                </a:path>
              </a:pathLst>
            </a:custGeom>
            <a:solidFill>
              <a:srgbClr val="EDF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4"/>
            <p:cNvSpPr txBox="1"/>
            <p:nvPr/>
          </p:nvSpPr>
          <p:spPr>
            <a:xfrm>
              <a:off x="0" y="-38100"/>
              <a:ext cx="1270404" cy="246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p4"/>
          <p:cNvGrpSpPr/>
          <p:nvPr/>
        </p:nvGrpSpPr>
        <p:grpSpPr>
          <a:xfrm>
            <a:off x="12248762" y="6602839"/>
            <a:ext cx="4823563" cy="934906"/>
            <a:chOff x="0" y="-38100"/>
            <a:chExt cx="1270404" cy="246230"/>
          </a:xfrm>
        </p:grpSpPr>
        <p:sp>
          <p:nvSpPr>
            <p:cNvPr id="182" name="Google Shape;182;p4"/>
            <p:cNvSpPr/>
            <p:nvPr/>
          </p:nvSpPr>
          <p:spPr>
            <a:xfrm>
              <a:off x="0" y="0"/>
              <a:ext cx="1270404" cy="208130"/>
            </a:xfrm>
            <a:custGeom>
              <a:rect b="b" l="l" r="r" t="t"/>
              <a:pathLst>
                <a:path extrusionOk="0" h="208130" w="1270404">
                  <a:moveTo>
                    <a:pt x="80251" y="0"/>
                  </a:moveTo>
                  <a:lnTo>
                    <a:pt x="1190153" y="0"/>
                  </a:lnTo>
                  <a:cubicBezTo>
                    <a:pt x="1211436" y="0"/>
                    <a:pt x="1231849" y="8455"/>
                    <a:pt x="1246899" y="23505"/>
                  </a:cubicBezTo>
                  <a:cubicBezTo>
                    <a:pt x="1261949" y="38555"/>
                    <a:pt x="1270404" y="58967"/>
                    <a:pt x="1270404" y="80251"/>
                  </a:cubicBezTo>
                  <a:lnTo>
                    <a:pt x="1270404" y="127879"/>
                  </a:lnTo>
                  <a:cubicBezTo>
                    <a:pt x="1270404" y="172201"/>
                    <a:pt x="1234474" y="208130"/>
                    <a:pt x="1190153" y="208130"/>
                  </a:cubicBezTo>
                  <a:lnTo>
                    <a:pt x="80251" y="208130"/>
                  </a:lnTo>
                  <a:cubicBezTo>
                    <a:pt x="58967" y="208130"/>
                    <a:pt x="38555" y="199675"/>
                    <a:pt x="23505" y="184625"/>
                  </a:cubicBezTo>
                  <a:cubicBezTo>
                    <a:pt x="8455" y="169575"/>
                    <a:pt x="0" y="149163"/>
                    <a:pt x="0" y="127879"/>
                  </a:cubicBezTo>
                  <a:lnTo>
                    <a:pt x="0" y="80251"/>
                  </a:lnTo>
                  <a:cubicBezTo>
                    <a:pt x="0" y="58967"/>
                    <a:pt x="8455" y="38555"/>
                    <a:pt x="23505" y="23505"/>
                  </a:cubicBezTo>
                  <a:cubicBezTo>
                    <a:pt x="38555" y="8455"/>
                    <a:pt x="58967" y="0"/>
                    <a:pt x="80251" y="0"/>
                  </a:cubicBez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4"/>
            <p:cNvSpPr txBox="1"/>
            <p:nvPr/>
          </p:nvSpPr>
          <p:spPr>
            <a:xfrm>
              <a:off x="0" y="-38100"/>
              <a:ext cx="1270404" cy="246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4"/>
          <p:cNvGrpSpPr/>
          <p:nvPr/>
        </p:nvGrpSpPr>
        <p:grpSpPr>
          <a:xfrm>
            <a:off x="12248762" y="7878858"/>
            <a:ext cx="4823597" cy="934911"/>
            <a:chOff x="0" y="-38100"/>
            <a:chExt cx="1270404" cy="246230"/>
          </a:xfrm>
        </p:grpSpPr>
        <p:sp>
          <p:nvSpPr>
            <p:cNvPr id="185" name="Google Shape;185;p4"/>
            <p:cNvSpPr/>
            <p:nvPr/>
          </p:nvSpPr>
          <p:spPr>
            <a:xfrm>
              <a:off x="0" y="0"/>
              <a:ext cx="1270404" cy="208130"/>
            </a:xfrm>
            <a:custGeom>
              <a:rect b="b" l="l" r="r" t="t"/>
              <a:pathLst>
                <a:path extrusionOk="0" h="208130" w="1270404">
                  <a:moveTo>
                    <a:pt x="80251" y="0"/>
                  </a:moveTo>
                  <a:lnTo>
                    <a:pt x="1190153" y="0"/>
                  </a:lnTo>
                  <a:cubicBezTo>
                    <a:pt x="1211436" y="0"/>
                    <a:pt x="1231849" y="8455"/>
                    <a:pt x="1246899" y="23505"/>
                  </a:cubicBezTo>
                  <a:cubicBezTo>
                    <a:pt x="1261949" y="38555"/>
                    <a:pt x="1270404" y="58967"/>
                    <a:pt x="1270404" y="80251"/>
                  </a:cubicBezTo>
                  <a:lnTo>
                    <a:pt x="1270404" y="127879"/>
                  </a:lnTo>
                  <a:cubicBezTo>
                    <a:pt x="1270404" y="172201"/>
                    <a:pt x="1234474" y="208130"/>
                    <a:pt x="1190153" y="208130"/>
                  </a:cubicBezTo>
                  <a:lnTo>
                    <a:pt x="80251" y="208130"/>
                  </a:lnTo>
                  <a:cubicBezTo>
                    <a:pt x="58967" y="208130"/>
                    <a:pt x="38555" y="199675"/>
                    <a:pt x="23505" y="184625"/>
                  </a:cubicBezTo>
                  <a:cubicBezTo>
                    <a:pt x="8455" y="169575"/>
                    <a:pt x="0" y="149163"/>
                    <a:pt x="0" y="127879"/>
                  </a:cubicBezTo>
                  <a:lnTo>
                    <a:pt x="0" y="80251"/>
                  </a:lnTo>
                  <a:cubicBezTo>
                    <a:pt x="0" y="58967"/>
                    <a:pt x="8455" y="38555"/>
                    <a:pt x="23505" y="23505"/>
                  </a:cubicBezTo>
                  <a:cubicBezTo>
                    <a:pt x="38555" y="8455"/>
                    <a:pt x="58967" y="0"/>
                    <a:pt x="80251" y="0"/>
                  </a:cubicBez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4"/>
            <p:cNvSpPr txBox="1"/>
            <p:nvPr/>
          </p:nvSpPr>
          <p:spPr>
            <a:xfrm>
              <a:off x="0" y="-38100"/>
              <a:ext cx="1270404" cy="246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4"/>
          <p:cNvSpPr/>
          <p:nvPr/>
        </p:nvSpPr>
        <p:spPr>
          <a:xfrm>
            <a:off x="1028700" y="2325165"/>
            <a:ext cx="10211463" cy="6933135"/>
          </a:xfrm>
          <a:custGeom>
            <a:rect b="b" l="l" r="r" t="t"/>
            <a:pathLst>
              <a:path extrusionOk="0" h="6933135" w="10211463">
                <a:moveTo>
                  <a:pt x="0" y="0"/>
                </a:moveTo>
                <a:lnTo>
                  <a:pt x="10211463" y="0"/>
                </a:lnTo>
                <a:lnTo>
                  <a:pt x="10211463" y="6933135"/>
                </a:lnTo>
                <a:lnTo>
                  <a:pt x="0" y="69331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562" l="0" r="0" t="-2562"/>
            </a:stretch>
          </a:blipFill>
          <a:ln>
            <a:noFill/>
          </a:ln>
        </p:spPr>
      </p:sp>
      <p:sp>
        <p:nvSpPr>
          <p:cNvPr id="188" name="Google Shape;188;p4"/>
          <p:cNvSpPr txBox="1"/>
          <p:nvPr/>
        </p:nvSpPr>
        <p:spPr>
          <a:xfrm>
            <a:off x="1028700" y="904875"/>
            <a:ext cx="1623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000" u="none" cap="none" strike="noStrike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Geography of Global Leaders</a:t>
            </a:r>
            <a:endParaRPr sz="6000"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89" name="Google Shape;189;p4"/>
          <p:cNvSpPr txBox="1"/>
          <p:nvPr/>
        </p:nvSpPr>
        <p:spPr>
          <a:xfrm>
            <a:off x="12882851" y="2779786"/>
            <a:ext cx="3555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000" u="none" cap="none" strike="noStrike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Key Finding</a:t>
            </a:r>
            <a:endParaRPr sz="4000"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90" name="Google Shape;190;p4"/>
          <p:cNvSpPr txBox="1"/>
          <p:nvPr/>
        </p:nvSpPr>
        <p:spPr>
          <a:xfrm>
            <a:off x="12520998" y="5608250"/>
            <a:ext cx="286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United States   </a:t>
            </a:r>
            <a:endParaRPr sz="30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91" name="Google Shape;191;p4"/>
          <p:cNvSpPr txBox="1"/>
          <p:nvPr/>
        </p:nvSpPr>
        <p:spPr>
          <a:xfrm>
            <a:off x="12520998" y="6916775"/>
            <a:ext cx="286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United Kingdom        </a:t>
            </a:r>
            <a:r>
              <a:rPr lang="en-US" sz="3000">
                <a:latin typeface="Instrument Sans"/>
                <a:ea typeface="Instrument Sans"/>
                <a:cs typeface="Instrument Sans"/>
                <a:sym typeface="Instrument Sans"/>
              </a:rPr>
              <a:t>  </a:t>
            </a:r>
            <a:r>
              <a:rPr i="0" lang="en-US" sz="30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</a:t>
            </a:r>
            <a:endParaRPr sz="30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92" name="Google Shape;192;p4"/>
          <p:cNvSpPr txBox="1"/>
          <p:nvPr/>
        </p:nvSpPr>
        <p:spPr>
          <a:xfrm>
            <a:off x="12521000" y="8225300"/>
            <a:ext cx="179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Germany                           </a:t>
            </a:r>
            <a:endParaRPr sz="30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93" name="Google Shape;193;p4"/>
          <p:cNvSpPr txBox="1"/>
          <p:nvPr/>
        </p:nvSpPr>
        <p:spPr>
          <a:xfrm>
            <a:off x="12248762" y="3967142"/>
            <a:ext cx="4823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distribution shows clear dominance patterns</a:t>
            </a:r>
            <a:endParaRPr sz="30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94" name="Google Shape;194;p4"/>
          <p:cNvSpPr txBox="1"/>
          <p:nvPr/>
        </p:nvSpPr>
        <p:spPr>
          <a:xfrm>
            <a:off x="15959600" y="5515850"/>
            <a:ext cx="84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74</a:t>
            </a:r>
            <a:endParaRPr sz="30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95" name="Google Shape;195;p4"/>
          <p:cNvSpPr txBox="1"/>
          <p:nvPr/>
        </p:nvSpPr>
        <p:spPr>
          <a:xfrm>
            <a:off x="15994700" y="6824375"/>
            <a:ext cx="77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29</a:t>
            </a:r>
            <a:endParaRPr sz="30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96" name="Google Shape;196;p4"/>
          <p:cNvSpPr txBox="1"/>
          <p:nvPr/>
        </p:nvSpPr>
        <p:spPr>
          <a:xfrm>
            <a:off x="15994688" y="8132900"/>
            <a:ext cx="77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12</a:t>
            </a:r>
            <a:endParaRPr sz="30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8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"/>
          <p:cNvSpPr/>
          <p:nvPr/>
        </p:nvSpPr>
        <p:spPr>
          <a:xfrm>
            <a:off x="1028700" y="2515637"/>
            <a:ext cx="11428242" cy="6742663"/>
          </a:xfrm>
          <a:custGeom>
            <a:rect b="b" l="l" r="r" t="t"/>
            <a:pathLst>
              <a:path extrusionOk="0" h="6742663" w="11428242">
                <a:moveTo>
                  <a:pt x="0" y="0"/>
                </a:moveTo>
                <a:lnTo>
                  <a:pt x="11428242" y="0"/>
                </a:lnTo>
                <a:lnTo>
                  <a:pt x="11428242" y="6742663"/>
                </a:lnTo>
                <a:lnTo>
                  <a:pt x="0" y="67426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2" name="Google Shape;202;p5"/>
          <p:cNvSpPr txBox="1"/>
          <p:nvPr/>
        </p:nvSpPr>
        <p:spPr>
          <a:xfrm>
            <a:off x="1028700" y="904875"/>
            <a:ext cx="1623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000" u="none" cap="none" strike="noStrike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Distribution of Scores Across Indicators</a:t>
            </a:r>
            <a:endParaRPr sz="6000"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grpSp>
        <p:nvGrpSpPr>
          <p:cNvPr id="203" name="Google Shape;203;p5"/>
          <p:cNvGrpSpPr/>
          <p:nvPr/>
        </p:nvGrpSpPr>
        <p:grpSpPr>
          <a:xfrm>
            <a:off x="12967428" y="2367907"/>
            <a:ext cx="4291872" cy="1994212"/>
            <a:chOff x="0" y="-38100"/>
            <a:chExt cx="1130370" cy="525224"/>
          </a:xfrm>
        </p:grpSpPr>
        <p:sp>
          <p:nvSpPr>
            <p:cNvPr id="204" name="Google Shape;204;p5"/>
            <p:cNvSpPr/>
            <p:nvPr/>
          </p:nvSpPr>
          <p:spPr>
            <a:xfrm>
              <a:off x="0" y="0"/>
              <a:ext cx="1130370" cy="487124"/>
            </a:xfrm>
            <a:custGeom>
              <a:rect b="b" l="l" r="r" t="t"/>
              <a:pathLst>
                <a:path extrusionOk="0" h="487124" w="1130370">
                  <a:moveTo>
                    <a:pt x="90193" y="0"/>
                  </a:moveTo>
                  <a:lnTo>
                    <a:pt x="1040177" y="0"/>
                  </a:lnTo>
                  <a:cubicBezTo>
                    <a:pt x="1089989" y="0"/>
                    <a:pt x="1130370" y="40381"/>
                    <a:pt x="1130370" y="90193"/>
                  </a:cubicBezTo>
                  <a:lnTo>
                    <a:pt x="1130370" y="396932"/>
                  </a:lnTo>
                  <a:cubicBezTo>
                    <a:pt x="1130370" y="420852"/>
                    <a:pt x="1120867" y="443793"/>
                    <a:pt x="1103953" y="460708"/>
                  </a:cubicBezTo>
                  <a:cubicBezTo>
                    <a:pt x="1087038" y="477622"/>
                    <a:pt x="1064097" y="487124"/>
                    <a:pt x="1040177" y="487124"/>
                  </a:cubicBezTo>
                  <a:lnTo>
                    <a:pt x="90193" y="487124"/>
                  </a:lnTo>
                  <a:cubicBezTo>
                    <a:pt x="66272" y="487124"/>
                    <a:pt x="43331" y="477622"/>
                    <a:pt x="26417" y="460708"/>
                  </a:cubicBezTo>
                  <a:cubicBezTo>
                    <a:pt x="9502" y="443793"/>
                    <a:pt x="0" y="420852"/>
                    <a:pt x="0" y="396932"/>
                  </a:cubicBezTo>
                  <a:lnTo>
                    <a:pt x="0" y="90193"/>
                  </a:lnTo>
                  <a:cubicBezTo>
                    <a:pt x="0" y="66272"/>
                    <a:pt x="9502" y="43331"/>
                    <a:pt x="26417" y="26417"/>
                  </a:cubicBezTo>
                  <a:cubicBezTo>
                    <a:pt x="43331" y="9502"/>
                    <a:pt x="66272" y="0"/>
                    <a:pt x="901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5"/>
            <p:cNvSpPr txBox="1"/>
            <p:nvPr/>
          </p:nvSpPr>
          <p:spPr>
            <a:xfrm>
              <a:off x="0" y="-38100"/>
              <a:ext cx="1130370" cy="525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6" name="Google Shape;206;p5"/>
          <p:cNvSpPr txBox="1"/>
          <p:nvPr/>
        </p:nvSpPr>
        <p:spPr>
          <a:xfrm>
            <a:off x="14225663" y="2671900"/>
            <a:ext cx="177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Citations</a:t>
            </a:r>
            <a:endParaRPr sz="3000"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grpSp>
        <p:nvGrpSpPr>
          <p:cNvPr id="207" name="Google Shape;207;p5"/>
          <p:cNvGrpSpPr/>
          <p:nvPr/>
        </p:nvGrpSpPr>
        <p:grpSpPr>
          <a:xfrm>
            <a:off x="12967428" y="4817532"/>
            <a:ext cx="4291872" cy="1994212"/>
            <a:chOff x="0" y="-38100"/>
            <a:chExt cx="1130370" cy="525224"/>
          </a:xfrm>
        </p:grpSpPr>
        <p:sp>
          <p:nvSpPr>
            <p:cNvPr id="208" name="Google Shape;208;p5"/>
            <p:cNvSpPr/>
            <p:nvPr/>
          </p:nvSpPr>
          <p:spPr>
            <a:xfrm>
              <a:off x="0" y="0"/>
              <a:ext cx="1130370" cy="487124"/>
            </a:xfrm>
            <a:custGeom>
              <a:rect b="b" l="l" r="r" t="t"/>
              <a:pathLst>
                <a:path extrusionOk="0" h="487124" w="1130370">
                  <a:moveTo>
                    <a:pt x="90193" y="0"/>
                  </a:moveTo>
                  <a:lnTo>
                    <a:pt x="1040177" y="0"/>
                  </a:lnTo>
                  <a:cubicBezTo>
                    <a:pt x="1089989" y="0"/>
                    <a:pt x="1130370" y="40381"/>
                    <a:pt x="1130370" y="90193"/>
                  </a:cubicBezTo>
                  <a:lnTo>
                    <a:pt x="1130370" y="396932"/>
                  </a:lnTo>
                  <a:cubicBezTo>
                    <a:pt x="1130370" y="420852"/>
                    <a:pt x="1120867" y="443793"/>
                    <a:pt x="1103953" y="460708"/>
                  </a:cubicBezTo>
                  <a:cubicBezTo>
                    <a:pt x="1087038" y="477622"/>
                    <a:pt x="1064097" y="487124"/>
                    <a:pt x="1040177" y="487124"/>
                  </a:cubicBezTo>
                  <a:lnTo>
                    <a:pt x="90193" y="487124"/>
                  </a:lnTo>
                  <a:cubicBezTo>
                    <a:pt x="66272" y="487124"/>
                    <a:pt x="43331" y="477622"/>
                    <a:pt x="26417" y="460708"/>
                  </a:cubicBezTo>
                  <a:cubicBezTo>
                    <a:pt x="9502" y="443793"/>
                    <a:pt x="0" y="420852"/>
                    <a:pt x="0" y="396932"/>
                  </a:cubicBezTo>
                  <a:lnTo>
                    <a:pt x="0" y="90193"/>
                  </a:lnTo>
                  <a:cubicBezTo>
                    <a:pt x="0" y="66272"/>
                    <a:pt x="9502" y="43331"/>
                    <a:pt x="26417" y="26417"/>
                  </a:cubicBezTo>
                  <a:cubicBezTo>
                    <a:pt x="43331" y="9502"/>
                    <a:pt x="66272" y="0"/>
                    <a:pt x="901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5"/>
            <p:cNvSpPr txBox="1"/>
            <p:nvPr/>
          </p:nvSpPr>
          <p:spPr>
            <a:xfrm>
              <a:off x="0" y="-38100"/>
              <a:ext cx="1130370" cy="525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p5"/>
          <p:cNvGrpSpPr/>
          <p:nvPr/>
        </p:nvGrpSpPr>
        <p:grpSpPr>
          <a:xfrm>
            <a:off x="12967428" y="7264088"/>
            <a:ext cx="4291872" cy="1994212"/>
            <a:chOff x="0" y="-38100"/>
            <a:chExt cx="1130370" cy="525224"/>
          </a:xfrm>
        </p:grpSpPr>
        <p:sp>
          <p:nvSpPr>
            <p:cNvPr id="211" name="Google Shape;211;p5"/>
            <p:cNvSpPr/>
            <p:nvPr/>
          </p:nvSpPr>
          <p:spPr>
            <a:xfrm>
              <a:off x="0" y="0"/>
              <a:ext cx="1130370" cy="487124"/>
            </a:xfrm>
            <a:custGeom>
              <a:rect b="b" l="l" r="r" t="t"/>
              <a:pathLst>
                <a:path extrusionOk="0" h="487124" w="1130370">
                  <a:moveTo>
                    <a:pt x="90193" y="0"/>
                  </a:moveTo>
                  <a:lnTo>
                    <a:pt x="1040177" y="0"/>
                  </a:lnTo>
                  <a:cubicBezTo>
                    <a:pt x="1089989" y="0"/>
                    <a:pt x="1130370" y="40381"/>
                    <a:pt x="1130370" y="90193"/>
                  </a:cubicBezTo>
                  <a:lnTo>
                    <a:pt x="1130370" y="396932"/>
                  </a:lnTo>
                  <a:cubicBezTo>
                    <a:pt x="1130370" y="420852"/>
                    <a:pt x="1120867" y="443793"/>
                    <a:pt x="1103953" y="460708"/>
                  </a:cubicBezTo>
                  <a:cubicBezTo>
                    <a:pt x="1087038" y="477622"/>
                    <a:pt x="1064097" y="487124"/>
                    <a:pt x="1040177" y="487124"/>
                  </a:cubicBezTo>
                  <a:lnTo>
                    <a:pt x="90193" y="487124"/>
                  </a:lnTo>
                  <a:cubicBezTo>
                    <a:pt x="66272" y="487124"/>
                    <a:pt x="43331" y="477622"/>
                    <a:pt x="26417" y="460708"/>
                  </a:cubicBezTo>
                  <a:cubicBezTo>
                    <a:pt x="9502" y="443793"/>
                    <a:pt x="0" y="420852"/>
                    <a:pt x="0" y="396932"/>
                  </a:cubicBezTo>
                  <a:lnTo>
                    <a:pt x="0" y="90193"/>
                  </a:lnTo>
                  <a:cubicBezTo>
                    <a:pt x="0" y="66272"/>
                    <a:pt x="9502" y="43331"/>
                    <a:pt x="26417" y="26417"/>
                  </a:cubicBezTo>
                  <a:cubicBezTo>
                    <a:pt x="43331" y="9502"/>
                    <a:pt x="66272" y="0"/>
                    <a:pt x="901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5"/>
            <p:cNvSpPr txBox="1"/>
            <p:nvPr/>
          </p:nvSpPr>
          <p:spPr>
            <a:xfrm>
              <a:off x="0" y="-38100"/>
              <a:ext cx="1130370" cy="525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3" name="Google Shape;213;p5"/>
          <p:cNvGrpSpPr/>
          <p:nvPr/>
        </p:nvGrpSpPr>
        <p:grpSpPr>
          <a:xfrm>
            <a:off x="12967428" y="4815997"/>
            <a:ext cx="4291872" cy="1994212"/>
            <a:chOff x="0" y="-38100"/>
            <a:chExt cx="1130370" cy="525224"/>
          </a:xfrm>
        </p:grpSpPr>
        <p:sp>
          <p:nvSpPr>
            <p:cNvPr id="214" name="Google Shape;214;p5"/>
            <p:cNvSpPr/>
            <p:nvPr/>
          </p:nvSpPr>
          <p:spPr>
            <a:xfrm>
              <a:off x="0" y="0"/>
              <a:ext cx="1130370" cy="487124"/>
            </a:xfrm>
            <a:custGeom>
              <a:rect b="b" l="l" r="r" t="t"/>
              <a:pathLst>
                <a:path extrusionOk="0" h="487124" w="1130370">
                  <a:moveTo>
                    <a:pt x="90193" y="0"/>
                  </a:moveTo>
                  <a:lnTo>
                    <a:pt x="1040177" y="0"/>
                  </a:lnTo>
                  <a:cubicBezTo>
                    <a:pt x="1089989" y="0"/>
                    <a:pt x="1130370" y="40381"/>
                    <a:pt x="1130370" y="90193"/>
                  </a:cubicBezTo>
                  <a:lnTo>
                    <a:pt x="1130370" y="396932"/>
                  </a:lnTo>
                  <a:cubicBezTo>
                    <a:pt x="1130370" y="420852"/>
                    <a:pt x="1120867" y="443793"/>
                    <a:pt x="1103953" y="460708"/>
                  </a:cubicBezTo>
                  <a:cubicBezTo>
                    <a:pt x="1087038" y="477622"/>
                    <a:pt x="1064097" y="487124"/>
                    <a:pt x="1040177" y="487124"/>
                  </a:cubicBezTo>
                  <a:lnTo>
                    <a:pt x="90193" y="487124"/>
                  </a:lnTo>
                  <a:cubicBezTo>
                    <a:pt x="66272" y="487124"/>
                    <a:pt x="43331" y="477622"/>
                    <a:pt x="26417" y="460708"/>
                  </a:cubicBezTo>
                  <a:cubicBezTo>
                    <a:pt x="9502" y="443793"/>
                    <a:pt x="0" y="420852"/>
                    <a:pt x="0" y="396932"/>
                  </a:cubicBezTo>
                  <a:lnTo>
                    <a:pt x="0" y="90193"/>
                  </a:lnTo>
                  <a:cubicBezTo>
                    <a:pt x="0" y="66272"/>
                    <a:pt x="9502" y="43331"/>
                    <a:pt x="26417" y="26417"/>
                  </a:cubicBezTo>
                  <a:cubicBezTo>
                    <a:pt x="43331" y="9502"/>
                    <a:pt x="66272" y="0"/>
                    <a:pt x="901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5"/>
            <p:cNvSpPr txBox="1"/>
            <p:nvPr/>
          </p:nvSpPr>
          <p:spPr>
            <a:xfrm>
              <a:off x="0" y="-38100"/>
              <a:ext cx="1130370" cy="525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6" name="Google Shape;216;p5"/>
          <p:cNvSpPr txBox="1"/>
          <p:nvPr/>
        </p:nvSpPr>
        <p:spPr>
          <a:xfrm>
            <a:off x="13188575" y="5123050"/>
            <a:ext cx="384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Teaching &amp; Research</a:t>
            </a:r>
            <a:endParaRPr sz="3000"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grpSp>
        <p:nvGrpSpPr>
          <p:cNvPr id="217" name="Google Shape;217;p5"/>
          <p:cNvGrpSpPr/>
          <p:nvPr/>
        </p:nvGrpSpPr>
        <p:grpSpPr>
          <a:xfrm>
            <a:off x="12967428" y="7267158"/>
            <a:ext cx="4291872" cy="1994212"/>
            <a:chOff x="0" y="-38100"/>
            <a:chExt cx="1130370" cy="525224"/>
          </a:xfrm>
        </p:grpSpPr>
        <p:sp>
          <p:nvSpPr>
            <p:cNvPr id="218" name="Google Shape;218;p5"/>
            <p:cNvSpPr/>
            <p:nvPr/>
          </p:nvSpPr>
          <p:spPr>
            <a:xfrm>
              <a:off x="0" y="0"/>
              <a:ext cx="1130370" cy="487124"/>
            </a:xfrm>
            <a:custGeom>
              <a:rect b="b" l="l" r="r" t="t"/>
              <a:pathLst>
                <a:path extrusionOk="0" h="487124" w="1130370">
                  <a:moveTo>
                    <a:pt x="90193" y="0"/>
                  </a:moveTo>
                  <a:lnTo>
                    <a:pt x="1040177" y="0"/>
                  </a:lnTo>
                  <a:cubicBezTo>
                    <a:pt x="1089989" y="0"/>
                    <a:pt x="1130370" y="40381"/>
                    <a:pt x="1130370" y="90193"/>
                  </a:cubicBezTo>
                  <a:lnTo>
                    <a:pt x="1130370" y="396932"/>
                  </a:lnTo>
                  <a:cubicBezTo>
                    <a:pt x="1130370" y="420852"/>
                    <a:pt x="1120867" y="443793"/>
                    <a:pt x="1103953" y="460708"/>
                  </a:cubicBezTo>
                  <a:cubicBezTo>
                    <a:pt x="1087038" y="477622"/>
                    <a:pt x="1064097" y="487124"/>
                    <a:pt x="1040177" y="487124"/>
                  </a:cubicBezTo>
                  <a:lnTo>
                    <a:pt x="90193" y="487124"/>
                  </a:lnTo>
                  <a:cubicBezTo>
                    <a:pt x="66272" y="487124"/>
                    <a:pt x="43331" y="477622"/>
                    <a:pt x="26417" y="460708"/>
                  </a:cubicBezTo>
                  <a:cubicBezTo>
                    <a:pt x="9502" y="443793"/>
                    <a:pt x="0" y="420852"/>
                    <a:pt x="0" y="396932"/>
                  </a:cubicBezTo>
                  <a:lnTo>
                    <a:pt x="0" y="90193"/>
                  </a:lnTo>
                  <a:cubicBezTo>
                    <a:pt x="0" y="66272"/>
                    <a:pt x="9502" y="43331"/>
                    <a:pt x="26417" y="26417"/>
                  </a:cubicBezTo>
                  <a:cubicBezTo>
                    <a:pt x="43331" y="9502"/>
                    <a:pt x="66272" y="0"/>
                    <a:pt x="901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5"/>
            <p:cNvSpPr txBox="1"/>
            <p:nvPr/>
          </p:nvSpPr>
          <p:spPr>
            <a:xfrm>
              <a:off x="0" y="-38100"/>
              <a:ext cx="1130370" cy="525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0" name="Google Shape;220;p5"/>
          <p:cNvSpPr txBox="1"/>
          <p:nvPr/>
        </p:nvSpPr>
        <p:spPr>
          <a:xfrm>
            <a:off x="14461175" y="7574205"/>
            <a:ext cx="130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Income</a:t>
            </a:r>
            <a:endParaRPr sz="3000"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221" name="Google Shape;221;p5"/>
          <p:cNvSpPr txBox="1"/>
          <p:nvPr/>
        </p:nvSpPr>
        <p:spPr>
          <a:xfrm>
            <a:off x="12967428" y="3389718"/>
            <a:ext cx="429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78.6 mean score</a:t>
            </a:r>
            <a:endParaRPr sz="30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22" name="Google Shape;222;p5"/>
          <p:cNvSpPr txBox="1"/>
          <p:nvPr/>
        </p:nvSpPr>
        <p:spPr>
          <a:xfrm>
            <a:off x="12967428" y="5839344"/>
            <a:ext cx="429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48-50 mean score</a:t>
            </a:r>
            <a:endParaRPr sz="30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23" name="Google Shape;223;p5"/>
          <p:cNvSpPr txBox="1"/>
          <p:nvPr/>
        </p:nvSpPr>
        <p:spPr>
          <a:xfrm>
            <a:off x="12967428" y="8288969"/>
            <a:ext cx="429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55.5 high variability</a:t>
            </a:r>
            <a:endParaRPr sz="30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8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Google Shape;228;p6"/>
          <p:cNvGrpSpPr/>
          <p:nvPr/>
        </p:nvGrpSpPr>
        <p:grpSpPr>
          <a:xfrm>
            <a:off x="1028700" y="2476117"/>
            <a:ext cx="7860441" cy="3430103"/>
            <a:chOff x="0" y="-38100"/>
            <a:chExt cx="2070240" cy="903402"/>
          </a:xfrm>
        </p:grpSpPr>
        <p:sp>
          <p:nvSpPr>
            <p:cNvPr id="229" name="Google Shape;229;p6"/>
            <p:cNvSpPr/>
            <p:nvPr/>
          </p:nvSpPr>
          <p:spPr>
            <a:xfrm>
              <a:off x="0" y="0"/>
              <a:ext cx="2070240" cy="865302"/>
            </a:xfrm>
            <a:custGeom>
              <a:rect b="b" l="l" r="r" t="t"/>
              <a:pathLst>
                <a:path extrusionOk="0" h="865302" w="2070240">
                  <a:moveTo>
                    <a:pt x="49246" y="0"/>
                  </a:moveTo>
                  <a:lnTo>
                    <a:pt x="2020994" y="0"/>
                  </a:lnTo>
                  <a:cubicBezTo>
                    <a:pt x="2034055" y="0"/>
                    <a:pt x="2046581" y="5188"/>
                    <a:pt x="2055816" y="14424"/>
                  </a:cubicBezTo>
                  <a:cubicBezTo>
                    <a:pt x="2065051" y="23659"/>
                    <a:pt x="2070240" y="36185"/>
                    <a:pt x="2070240" y="49246"/>
                  </a:cubicBezTo>
                  <a:lnTo>
                    <a:pt x="2070240" y="816056"/>
                  </a:lnTo>
                  <a:cubicBezTo>
                    <a:pt x="2070240" y="843253"/>
                    <a:pt x="2048191" y="865302"/>
                    <a:pt x="2020994" y="865302"/>
                  </a:cubicBezTo>
                  <a:lnTo>
                    <a:pt x="49246" y="865302"/>
                  </a:lnTo>
                  <a:cubicBezTo>
                    <a:pt x="22048" y="865302"/>
                    <a:pt x="0" y="843253"/>
                    <a:pt x="0" y="816056"/>
                  </a:cubicBezTo>
                  <a:lnTo>
                    <a:pt x="0" y="49246"/>
                  </a:lnTo>
                  <a:cubicBezTo>
                    <a:pt x="0" y="22048"/>
                    <a:pt x="22048" y="0"/>
                    <a:pt x="492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6"/>
            <p:cNvSpPr txBox="1"/>
            <p:nvPr/>
          </p:nvSpPr>
          <p:spPr>
            <a:xfrm>
              <a:off x="0" y="-38100"/>
              <a:ext cx="2070240" cy="9034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1" name="Google Shape;231;p6"/>
          <p:cNvGrpSpPr/>
          <p:nvPr/>
        </p:nvGrpSpPr>
        <p:grpSpPr>
          <a:xfrm>
            <a:off x="2711531" y="6150166"/>
            <a:ext cx="12864938" cy="3291090"/>
            <a:chOff x="0" y="-38100"/>
            <a:chExt cx="3388296" cy="866789"/>
          </a:xfrm>
        </p:grpSpPr>
        <p:sp>
          <p:nvSpPr>
            <p:cNvPr id="232" name="Google Shape;232;p6"/>
            <p:cNvSpPr/>
            <p:nvPr/>
          </p:nvSpPr>
          <p:spPr>
            <a:xfrm>
              <a:off x="0" y="0"/>
              <a:ext cx="3388296" cy="828689"/>
            </a:xfrm>
            <a:custGeom>
              <a:rect b="b" l="l" r="r" t="t"/>
              <a:pathLst>
                <a:path extrusionOk="0" h="828689" w="3388296">
                  <a:moveTo>
                    <a:pt x="30089" y="0"/>
                  </a:moveTo>
                  <a:lnTo>
                    <a:pt x="3358207" y="0"/>
                  </a:lnTo>
                  <a:cubicBezTo>
                    <a:pt x="3374825" y="0"/>
                    <a:pt x="3388296" y="13471"/>
                    <a:pt x="3388296" y="30089"/>
                  </a:cubicBezTo>
                  <a:lnTo>
                    <a:pt x="3388296" y="798600"/>
                  </a:lnTo>
                  <a:cubicBezTo>
                    <a:pt x="3388296" y="815218"/>
                    <a:pt x="3374825" y="828689"/>
                    <a:pt x="3358207" y="828689"/>
                  </a:cubicBezTo>
                  <a:lnTo>
                    <a:pt x="30089" y="828689"/>
                  </a:lnTo>
                  <a:cubicBezTo>
                    <a:pt x="13471" y="828689"/>
                    <a:pt x="0" y="815218"/>
                    <a:pt x="0" y="798600"/>
                  </a:cubicBezTo>
                  <a:lnTo>
                    <a:pt x="0" y="30089"/>
                  </a:lnTo>
                  <a:cubicBezTo>
                    <a:pt x="0" y="13471"/>
                    <a:pt x="13471" y="0"/>
                    <a:pt x="300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6"/>
            <p:cNvSpPr txBox="1"/>
            <p:nvPr/>
          </p:nvSpPr>
          <p:spPr>
            <a:xfrm>
              <a:off x="0" y="-38100"/>
              <a:ext cx="3388296" cy="866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4" name="Google Shape;234;p6"/>
          <p:cNvGrpSpPr/>
          <p:nvPr/>
        </p:nvGrpSpPr>
        <p:grpSpPr>
          <a:xfrm>
            <a:off x="1363024" y="2832904"/>
            <a:ext cx="3595896" cy="934906"/>
            <a:chOff x="0" y="-38100"/>
            <a:chExt cx="947067" cy="246230"/>
          </a:xfrm>
        </p:grpSpPr>
        <p:sp>
          <p:nvSpPr>
            <p:cNvPr id="235" name="Google Shape;235;p6"/>
            <p:cNvSpPr/>
            <p:nvPr/>
          </p:nvSpPr>
          <p:spPr>
            <a:xfrm>
              <a:off x="0" y="0"/>
              <a:ext cx="947067" cy="208130"/>
            </a:xfrm>
            <a:custGeom>
              <a:rect b="b" l="l" r="r" t="t"/>
              <a:pathLst>
                <a:path extrusionOk="0" h="208130" w="947067">
                  <a:moveTo>
                    <a:pt x="104065" y="0"/>
                  </a:moveTo>
                  <a:lnTo>
                    <a:pt x="843002" y="0"/>
                  </a:lnTo>
                  <a:cubicBezTo>
                    <a:pt x="900476" y="0"/>
                    <a:pt x="947067" y="46592"/>
                    <a:pt x="947067" y="104065"/>
                  </a:cubicBezTo>
                  <a:lnTo>
                    <a:pt x="947067" y="104065"/>
                  </a:lnTo>
                  <a:cubicBezTo>
                    <a:pt x="947067" y="161539"/>
                    <a:pt x="900476" y="208130"/>
                    <a:pt x="843002" y="208130"/>
                  </a:cubicBezTo>
                  <a:lnTo>
                    <a:pt x="104065" y="208130"/>
                  </a:lnTo>
                  <a:cubicBezTo>
                    <a:pt x="46592" y="208130"/>
                    <a:pt x="0" y="161539"/>
                    <a:pt x="0" y="104065"/>
                  </a:cubicBezTo>
                  <a:lnTo>
                    <a:pt x="0" y="104065"/>
                  </a:lnTo>
                  <a:cubicBezTo>
                    <a:pt x="0" y="46592"/>
                    <a:pt x="46592" y="0"/>
                    <a:pt x="104065" y="0"/>
                  </a:cubicBezTo>
                  <a:close/>
                </a:path>
              </a:pathLst>
            </a:custGeom>
            <a:solidFill>
              <a:srgbClr val="EDF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6"/>
            <p:cNvSpPr txBox="1"/>
            <p:nvPr/>
          </p:nvSpPr>
          <p:spPr>
            <a:xfrm>
              <a:off x="0" y="-38100"/>
              <a:ext cx="947067" cy="246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7" name="Google Shape;237;p6"/>
          <p:cNvGrpSpPr/>
          <p:nvPr/>
        </p:nvGrpSpPr>
        <p:grpSpPr>
          <a:xfrm>
            <a:off x="9398859" y="2476117"/>
            <a:ext cx="7860441" cy="3430103"/>
            <a:chOff x="0" y="-38100"/>
            <a:chExt cx="2070240" cy="903402"/>
          </a:xfrm>
        </p:grpSpPr>
        <p:sp>
          <p:nvSpPr>
            <p:cNvPr id="238" name="Google Shape;238;p6"/>
            <p:cNvSpPr/>
            <p:nvPr/>
          </p:nvSpPr>
          <p:spPr>
            <a:xfrm>
              <a:off x="0" y="0"/>
              <a:ext cx="2070240" cy="865302"/>
            </a:xfrm>
            <a:custGeom>
              <a:rect b="b" l="l" r="r" t="t"/>
              <a:pathLst>
                <a:path extrusionOk="0" h="865302" w="2070240">
                  <a:moveTo>
                    <a:pt x="49246" y="0"/>
                  </a:moveTo>
                  <a:lnTo>
                    <a:pt x="2020994" y="0"/>
                  </a:lnTo>
                  <a:cubicBezTo>
                    <a:pt x="2034055" y="0"/>
                    <a:pt x="2046581" y="5188"/>
                    <a:pt x="2055816" y="14424"/>
                  </a:cubicBezTo>
                  <a:cubicBezTo>
                    <a:pt x="2065051" y="23659"/>
                    <a:pt x="2070240" y="36185"/>
                    <a:pt x="2070240" y="49246"/>
                  </a:cubicBezTo>
                  <a:lnTo>
                    <a:pt x="2070240" y="816056"/>
                  </a:lnTo>
                  <a:cubicBezTo>
                    <a:pt x="2070240" y="843253"/>
                    <a:pt x="2048191" y="865302"/>
                    <a:pt x="2020994" y="865302"/>
                  </a:cubicBezTo>
                  <a:lnTo>
                    <a:pt x="49246" y="865302"/>
                  </a:lnTo>
                  <a:cubicBezTo>
                    <a:pt x="22048" y="865302"/>
                    <a:pt x="0" y="843253"/>
                    <a:pt x="0" y="816056"/>
                  </a:cubicBezTo>
                  <a:lnTo>
                    <a:pt x="0" y="49246"/>
                  </a:lnTo>
                  <a:cubicBezTo>
                    <a:pt x="0" y="22048"/>
                    <a:pt x="22048" y="0"/>
                    <a:pt x="492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6"/>
            <p:cNvSpPr txBox="1"/>
            <p:nvPr/>
          </p:nvSpPr>
          <p:spPr>
            <a:xfrm>
              <a:off x="0" y="-38100"/>
              <a:ext cx="2070240" cy="9034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0" name="Google Shape;240;p6"/>
          <p:cNvGrpSpPr/>
          <p:nvPr/>
        </p:nvGrpSpPr>
        <p:grpSpPr>
          <a:xfrm>
            <a:off x="9733183" y="2832904"/>
            <a:ext cx="3446026" cy="934906"/>
            <a:chOff x="0" y="-38100"/>
            <a:chExt cx="907595" cy="246230"/>
          </a:xfrm>
        </p:grpSpPr>
        <p:sp>
          <p:nvSpPr>
            <p:cNvPr id="241" name="Google Shape;241;p6"/>
            <p:cNvSpPr/>
            <p:nvPr/>
          </p:nvSpPr>
          <p:spPr>
            <a:xfrm>
              <a:off x="0" y="0"/>
              <a:ext cx="907595" cy="208130"/>
            </a:xfrm>
            <a:custGeom>
              <a:rect b="b" l="l" r="r" t="t"/>
              <a:pathLst>
                <a:path extrusionOk="0" h="208130" w="907595">
                  <a:moveTo>
                    <a:pt x="104065" y="0"/>
                  </a:moveTo>
                  <a:lnTo>
                    <a:pt x="803530" y="0"/>
                  </a:lnTo>
                  <a:cubicBezTo>
                    <a:pt x="861004" y="0"/>
                    <a:pt x="907595" y="46592"/>
                    <a:pt x="907595" y="104065"/>
                  </a:cubicBezTo>
                  <a:lnTo>
                    <a:pt x="907595" y="104065"/>
                  </a:lnTo>
                  <a:cubicBezTo>
                    <a:pt x="907595" y="161539"/>
                    <a:pt x="861004" y="208130"/>
                    <a:pt x="803530" y="208130"/>
                  </a:cubicBezTo>
                  <a:lnTo>
                    <a:pt x="104065" y="208130"/>
                  </a:lnTo>
                  <a:cubicBezTo>
                    <a:pt x="46592" y="208130"/>
                    <a:pt x="0" y="161539"/>
                    <a:pt x="0" y="104065"/>
                  </a:cubicBezTo>
                  <a:lnTo>
                    <a:pt x="0" y="104065"/>
                  </a:lnTo>
                  <a:cubicBezTo>
                    <a:pt x="0" y="46592"/>
                    <a:pt x="46592" y="0"/>
                    <a:pt x="104065" y="0"/>
                  </a:cubicBezTo>
                  <a:close/>
                </a:path>
              </a:pathLst>
            </a:custGeom>
            <a:solidFill>
              <a:srgbClr val="EDF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6"/>
            <p:cNvSpPr txBox="1"/>
            <p:nvPr/>
          </p:nvSpPr>
          <p:spPr>
            <a:xfrm>
              <a:off x="0" y="-38100"/>
              <a:ext cx="907595" cy="246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3" name="Google Shape;243;p6"/>
          <p:cNvGrpSpPr/>
          <p:nvPr/>
        </p:nvGrpSpPr>
        <p:grpSpPr>
          <a:xfrm>
            <a:off x="7374649" y="6437835"/>
            <a:ext cx="3538702" cy="934906"/>
            <a:chOff x="0" y="-38100"/>
            <a:chExt cx="932004" cy="246230"/>
          </a:xfrm>
        </p:grpSpPr>
        <p:sp>
          <p:nvSpPr>
            <p:cNvPr id="244" name="Google Shape;244;p6"/>
            <p:cNvSpPr/>
            <p:nvPr/>
          </p:nvSpPr>
          <p:spPr>
            <a:xfrm>
              <a:off x="0" y="0"/>
              <a:ext cx="932004" cy="208130"/>
            </a:xfrm>
            <a:custGeom>
              <a:rect b="b" l="l" r="r" t="t"/>
              <a:pathLst>
                <a:path extrusionOk="0" h="208130" w="932004">
                  <a:moveTo>
                    <a:pt x="104065" y="0"/>
                  </a:moveTo>
                  <a:lnTo>
                    <a:pt x="827939" y="0"/>
                  </a:lnTo>
                  <a:cubicBezTo>
                    <a:pt x="855538" y="0"/>
                    <a:pt x="882008" y="10964"/>
                    <a:pt x="901524" y="30480"/>
                  </a:cubicBezTo>
                  <a:cubicBezTo>
                    <a:pt x="921040" y="49996"/>
                    <a:pt x="932004" y="76465"/>
                    <a:pt x="932004" y="104065"/>
                  </a:cubicBezTo>
                  <a:lnTo>
                    <a:pt x="932004" y="104065"/>
                  </a:lnTo>
                  <a:cubicBezTo>
                    <a:pt x="932004" y="161539"/>
                    <a:pt x="885412" y="208130"/>
                    <a:pt x="827939" y="208130"/>
                  </a:cubicBezTo>
                  <a:lnTo>
                    <a:pt x="104065" y="208130"/>
                  </a:lnTo>
                  <a:cubicBezTo>
                    <a:pt x="46592" y="208130"/>
                    <a:pt x="0" y="161539"/>
                    <a:pt x="0" y="104065"/>
                  </a:cubicBezTo>
                  <a:lnTo>
                    <a:pt x="0" y="104065"/>
                  </a:lnTo>
                  <a:cubicBezTo>
                    <a:pt x="0" y="46592"/>
                    <a:pt x="46592" y="0"/>
                    <a:pt x="104065" y="0"/>
                  </a:cubicBezTo>
                  <a:close/>
                </a:path>
              </a:pathLst>
            </a:custGeom>
            <a:solidFill>
              <a:srgbClr val="EDF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6"/>
            <p:cNvSpPr txBox="1"/>
            <p:nvPr/>
          </p:nvSpPr>
          <p:spPr>
            <a:xfrm>
              <a:off x="0" y="-38100"/>
              <a:ext cx="932004" cy="246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6" name="Google Shape;246;p6"/>
          <p:cNvSpPr/>
          <p:nvPr/>
        </p:nvSpPr>
        <p:spPr>
          <a:xfrm>
            <a:off x="3493371" y="8377629"/>
            <a:ext cx="11301259" cy="819341"/>
          </a:xfrm>
          <a:custGeom>
            <a:rect b="b" l="l" r="r" t="t"/>
            <a:pathLst>
              <a:path extrusionOk="0" h="819341" w="11301259">
                <a:moveTo>
                  <a:pt x="0" y="0"/>
                </a:moveTo>
                <a:lnTo>
                  <a:pt x="11301258" y="0"/>
                </a:lnTo>
                <a:lnTo>
                  <a:pt x="11301258" y="819341"/>
                </a:lnTo>
                <a:lnTo>
                  <a:pt x="0" y="8193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7" name="Google Shape;247;p6"/>
          <p:cNvSpPr txBox="1"/>
          <p:nvPr/>
        </p:nvSpPr>
        <p:spPr>
          <a:xfrm>
            <a:off x="1028700" y="904875"/>
            <a:ext cx="1623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000" u="none" cap="none" strike="noStrike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The Gradient Approach</a:t>
            </a:r>
            <a:endParaRPr sz="6000"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248" name="Google Shape;248;p6"/>
          <p:cNvSpPr txBox="1"/>
          <p:nvPr/>
        </p:nvSpPr>
        <p:spPr>
          <a:xfrm>
            <a:off x="1563525" y="3004388"/>
            <a:ext cx="319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000" u="none" cap="none" strike="noStrike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Core Concept</a:t>
            </a:r>
            <a:endParaRPr sz="4000"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249" name="Google Shape;249;p6"/>
          <p:cNvSpPr txBox="1"/>
          <p:nvPr/>
        </p:nvSpPr>
        <p:spPr>
          <a:xfrm>
            <a:off x="1363024" y="4215875"/>
            <a:ext cx="7387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final score is treated as a mathematical function of five variables</a:t>
            </a:r>
            <a:endParaRPr sz="30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50" name="Google Shape;250;p6"/>
          <p:cNvSpPr txBox="1"/>
          <p:nvPr/>
        </p:nvSpPr>
        <p:spPr>
          <a:xfrm>
            <a:off x="9858749" y="3004388"/>
            <a:ext cx="319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000" u="none" cap="none" strike="noStrike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Methodology</a:t>
            </a:r>
            <a:endParaRPr sz="4000"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251" name="Google Shape;251;p6"/>
          <p:cNvSpPr txBox="1"/>
          <p:nvPr/>
        </p:nvSpPr>
        <p:spPr>
          <a:xfrm>
            <a:off x="9733183" y="4124324"/>
            <a:ext cx="7271400" cy="17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Using linear regression to extract empirical weights. The coefficients represent the gradient components</a:t>
            </a:r>
            <a:endParaRPr sz="30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52" name="Google Shape;252;p6"/>
          <p:cNvSpPr txBox="1"/>
          <p:nvPr/>
        </p:nvSpPr>
        <p:spPr>
          <a:xfrm>
            <a:off x="7546553" y="6609318"/>
            <a:ext cx="319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000" u="none" cap="none" strike="noStrike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The Gradient</a:t>
            </a:r>
            <a:endParaRPr sz="4000"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253" name="Google Shape;253;p6"/>
          <p:cNvSpPr txBox="1"/>
          <p:nvPr/>
        </p:nvSpPr>
        <p:spPr>
          <a:xfrm>
            <a:off x="2711531" y="7725166"/>
            <a:ext cx="1286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Gradient Components:</a:t>
            </a:r>
            <a:endParaRPr sz="30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8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"/>
          <p:cNvSpPr/>
          <p:nvPr/>
        </p:nvSpPr>
        <p:spPr>
          <a:xfrm>
            <a:off x="1028700" y="2479151"/>
            <a:ext cx="10044310" cy="4067946"/>
          </a:xfrm>
          <a:custGeom>
            <a:rect b="b" l="l" r="r" t="t"/>
            <a:pathLst>
              <a:path extrusionOk="0" h="4067946" w="10044310">
                <a:moveTo>
                  <a:pt x="0" y="0"/>
                </a:moveTo>
                <a:lnTo>
                  <a:pt x="10044310" y="0"/>
                </a:lnTo>
                <a:lnTo>
                  <a:pt x="10044310" y="4067946"/>
                </a:lnTo>
                <a:lnTo>
                  <a:pt x="0" y="40679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9" name="Google Shape;259;p7"/>
          <p:cNvSpPr txBox="1"/>
          <p:nvPr/>
        </p:nvSpPr>
        <p:spPr>
          <a:xfrm>
            <a:off x="1028700" y="904875"/>
            <a:ext cx="1623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000" u="none" cap="none" strike="noStrike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Empirical Weights vs. Official Weights</a:t>
            </a:r>
            <a:endParaRPr sz="6000"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grpSp>
        <p:nvGrpSpPr>
          <p:cNvPr id="260" name="Google Shape;260;p7"/>
          <p:cNvGrpSpPr/>
          <p:nvPr/>
        </p:nvGrpSpPr>
        <p:grpSpPr>
          <a:xfrm>
            <a:off x="1028700" y="6782635"/>
            <a:ext cx="8115300" cy="2475665"/>
            <a:chOff x="0" y="-38100"/>
            <a:chExt cx="2137363" cy="652027"/>
          </a:xfrm>
        </p:grpSpPr>
        <p:sp>
          <p:nvSpPr>
            <p:cNvPr id="261" name="Google Shape;261;p7"/>
            <p:cNvSpPr/>
            <p:nvPr/>
          </p:nvSpPr>
          <p:spPr>
            <a:xfrm>
              <a:off x="0" y="0"/>
              <a:ext cx="2137363" cy="613927"/>
            </a:xfrm>
            <a:custGeom>
              <a:rect b="b" l="l" r="r" t="t"/>
              <a:pathLst>
                <a:path extrusionOk="0" h="613927" w="2137363">
                  <a:moveTo>
                    <a:pt x="47700" y="0"/>
                  </a:moveTo>
                  <a:lnTo>
                    <a:pt x="2089663" y="0"/>
                  </a:lnTo>
                  <a:cubicBezTo>
                    <a:pt x="2102314" y="0"/>
                    <a:pt x="2114447" y="5025"/>
                    <a:pt x="2123392" y="13971"/>
                  </a:cubicBezTo>
                  <a:cubicBezTo>
                    <a:pt x="2132337" y="22916"/>
                    <a:pt x="2137363" y="35049"/>
                    <a:pt x="2137363" y="47700"/>
                  </a:cubicBezTo>
                  <a:lnTo>
                    <a:pt x="2137363" y="566227"/>
                  </a:lnTo>
                  <a:cubicBezTo>
                    <a:pt x="2137363" y="578878"/>
                    <a:pt x="2132337" y="591011"/>
                    <a:pt x="2123392" y="599956"/>
                  </a:cubicBezTo>
                  <a:cubicBezTo>
                    <a:pt x="2114447" y="608901"/>
                    <a:pt x="2102314" y="613927"/>
                    <a:pt x="2089663" y="613927"/>
                  </a:cubicBezTo>
                  <a:lnTo>
                    <a:pt x="47700" y="613927"/>
                  </a:lnTo>
                  <a:cubicBezTo>
                    <a:pt x="35049" y="613927"/>
                    <a:pt x="22916" y="608901"/>
                    <a:pt x="13971" y="599956"/>
                  </a:cubicBezTo>
                  <a:cubicBezTo>
                    <a:pt x="5025" y="591011"/>
                    <a:pt x="0" y="578878"/>
                    <a:pt x="0" y="566227"/>
                  </a:cubicBezTo>
                  <a:lnTo>
                    <a:pt x="0" y="47700"/>
                  </a:lnTo>
                  <a:cubicBezTo>
                    <a:pt x="0" y="35049"/>
                    <a:pt x="5025" y="22916"/>
                    <a:pt x="13971" y="13971"/>
                  </a:cubicBezTo>
                  <a:cubicBezTo>
                    <a:pt x="22916" y="5025"/>
                    <a:pt x="35049" y="0"/>
                    <a:pt x="477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7"/>
            <p:cNvSpPr txBox="1"/>
            <p:nvPr/>
          </p:nvSpPr>
          <p:spPr>
            <a:xfrm>
              <a:off x="0" y="-38100"/>
              <a:ext cx="2137363" cy="652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3" name="Google Shape;263;p7"/>
          <p:cNvSpPr txBox="1"/>
          <p:nvPr/>
        </p:nvSpPr>
        <p:spPr>
          <a:xfrm>
            <a:off x="1271974" y="7035523"/>
            <a:ext cx="7628700" cy="17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Nearly perfect agreement between calculations and official methodology. The THE ranking strictly follows its stated logic.</a:t>
            </a:r>
            <a:endParaRPr sz="30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grpSp>
        <p:nvGrpSpPr>
          <p:cNvPr id="264" name="Google Shape;264;p7"/>
          <p:cNvGrpSpPr/>
          <p:nvPr/>
        </p:nvGrpSpPr>
        <p:grpSpPr>
          <a:xfrm>
            <a:off x="9660941" y="6782635"/>
            <a:ext cx="7598359" cy="2475665"/>
            <a:chOff x="0" y="-38100"/>
            <a:chExt cx="2001214" cy="652027"/>
          </a:xfrm>
        </p:grpSpPr>
        <p:sp>
          <p:nvSpPr>
            <p:cNvPr id="265" name="Google Shape;265;p7"/>
            <p:cNvSpPr/>
            <p:nvPr/>
          </p:nvSpPr>
          <p:spPr>
            <a:xfrm>
              <a:off x="0" y="0"/>
              <a:ext cx="2001214" cy="613927"/>
            </a:xfrm>
            <a:custGeom>
              <a:rect b="b" l="l" r="r" t="t"/>
              <a:pathLst>
                <a:path extrusionOk="0" h="613927" w="2001214">
                  <a:moveTo>
                    <a:pt x="50945" y="0"/>
                  </a:moveTo>
                  <a:lnTo>
                    <a:pt x="1950269" y="0"/>
                  </a:lnTo>
                  <a:cubicBezTo>
                    <a:pt x="1963781" y="0"/>
                    <a:pt x="1976739" y="5367"/>
                    <a:pt x="1986293" y="14921"/>
                  </a:cubicBezTo>
                  <a:cubicBezTo>
                    <a:pt x="1995847" y="24475"/>
                    <a:pt x="2001214" y="37433"/>
                    <a:pt x="2001214" y="50945"/>
                  </a:cubicBezTo>
                  <a:lnTo>
                    <a:pt x="2001214" y="562982"/>
                  </a:lnTo>
                  <a:cubicBezTo>
                    <a:pt x="2001214" y="576494"/>
                    <a:pt x="1995847" y="589452"/>
                    <a:pt x="1986293" y="599006"/>
                  </a:cubicBezTo>
                  <a:cubicBezTo>
                    <a:pt x="1976739" y="608560"/>
                    <a:pt x="1963781" y="613927"/>
                    <a:pt x="1950269" y="613927"/>
                  </a:cubicBezTo>
                  <a:lnTo>
                    <a:pt x="50945" y="613927"/>
                  </a:lnTo>
                  <a:cubicBezTo>
                    <a:pt x="22809" y="613927"/>
                    <a:pt x="0" y="591118"/>
                    <a:pt x="0" y="562982"/>
                  </a:cubicBezTo>
                  <a:lnTo>
                    <a:pt x="0" y="50945"/>
                  </a:lnTo>
                  <a:cubicBezTo>
                    <a:pt x="0" y="37433"/>
                    <a:pt x="5367" y="24475"/>
                    <a:pt x="14921" y="14921"/>
                  </a:cubicBezTo>
                  <a:cubicBezTo>
                    <a:pt x="24475" y="5367"/>
                    <a:pt x="37433" y="0"/>
                    <a:pt x="509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7"/>
            <p:cNvSpPr txBox="1"/>
            <p:nvPr/>
          </p:nvSpPr>
          <p:spPr>
            <a:xfrm>
              <a:off x="0" y="-38100"/>
              <a:ext cx="2001214" cy="652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7" name="Google Shape;267;p7"/>
          <p:cNvGrpSpPr/>
          <p:nvPr/>
        </p:nvGrpSpPr>
        <p:grpSpPr>
          <a:xfrm>
            <a:off x="11829041" y="2334490"/>
            <a:ext cx="5430259" cy="4212607"/>
            <a:chOff x="0" y="-38100"/>
            <a:chExt cx="1430192" cy="1109493"/>
          </a:xfrm>
        </p:grpSpPr>
        <p:sp>
          <p:nvSpPr>
            <p:cNvPr id="268" name="Google Shape;268;p7"/>
            <p:cNvSpPr/>
            <p:nvPr/>
          </p:nvSpPr>
          <p:spPr>
            <a:xfrm>
              <a:off x="0" y="0"/>
              <a:ext cx="1430192" cy="1071393"/>
            </a:xfrm>
            <a:custGeom>
              <a:rect b="b" l="l" r="r" t="t"/>
              <a:pathLst>
                <a:path extrusionOk="0" h="1071393" w="1430192">
                  <a:moveTo>
                    <a:pt x="71285" y="0"/>
                  </a:moveTo>
                  <a:lnTo>
                    <a:pt x="1358907" y="0"/>
                  </a:lnTo>
                  <a:cubicBezTo>
                    <a:pt x="1377813" y="0"/>
                    <a:pt x="1395944" y="7510"/>
                    <a:pt x="1409313" y="20879"/>
                  </a:cubicBezTo>
                  <a:cubicBezTo>
                    <a:pt x="1422681" y="34247"/>
                    <a:pt x="1430192" y="52379"/>
                    <a:pt x="1430192" y="71285"/>
                  </a:cubicBezTo>
                  <a:lnTo>
                    <a:pt x="1430192" y="1000108"/>
                  </a:lnTo>
                  <a:cubicBezTo>
                    <a:pt x="1430192" y="1019014"/>
                    <a:pt x="1422681" y="1037146"/>
                    <a:pt x="1409313" y="1050514"/>
                  </a:cubicBezTo>
                  <a:cubicBezTo>
                    <a:pt x="1395944" y="1063883"/>
                    <a:pt x="1377813" y="1071393"/>
                    <a:pt x="1358907" y="1071393"/>
                  </a:cubicBezTo>
                  <a:lnTo>
                    <a:pt x="71285" y="1071393"/>
                  </a:lnTo>
                  <a:cubicBezTo>
                    <a:pt x="52379" y="1071393"/>
                    <a:pt x="34247" y="1063883"/>
                    <a:pt x="20879" y="1050514"/>
                  </a:cubicBezTo>
                  <a:cubicBezTo>
                    <a:pt x="7510" y="1037146"/>
                    <a:pt x="0" y="1019014"/>
                    <a:pt x="0" y="1000108"/>
                  </a:cubicBezTo>
                  <a:lnTo>
                    <a:pt x="0" y="71285"/>
                  </a:lnTo>
                  <a:cubicBezTo>
                    <a:pt x="0" y="52379"/>
                    <a:pt x="7510" y="34247"/>
                    <a:pt x="20879" y="20879"/>
                  </a:cubicBezTo>
                  <a:cubicBezTo>
                    <a:pt x="34247" y="7510"/>
                    <a:pt x="52379" y="0"/>
                    <a:pt x="712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7"/>
            <p:cNvSpPr txBox="1"/>
            <p:nvPr/>
          </p:nvSpPr>
          <p:spPr>
            <a:xfrm>
              <a:off x="0" y="-38100"/>
              <a:ext cx="1430192" cy="11094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0" name="Google Shape;270;p7"/>
          <p:cNvSpPr txBox="1"/>
          <p:nvPr/>
        </p:nvSpPr>
        <p:spPr>
          <a:xfrm>
            <a:off x="12224275" y="2816700"/>
            <a:ext cx="463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Three Heavyweight Pillars</a:t>
            </a:r>
            <a:endParaRPr sz="3000"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271" name="Google Shape;271;p7"/>
          <p:cNvSpPr txBox="1"/>
          <p:nvPr/>
        </p:nvSpPr>
        <p:spPr>
          <a:xfrm>
            <a:off x="11823738" y="7214351"/>
            <a:ext cx="327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Secondary Factors</a:t>
            </a:r>
            <a:endParaRPr sz="3000"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272" name="Google Shape;272;p7"/>
          <p:cNvSpPr txBox="1"/>
          <p:nvPr/>
        </p:nvSpPr>
        <p:spPr>
          <a:xfrm>
            <a:off x="12175701" y="3628767"/>
            <a:ext cx="47370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nstrument Sans"/>
              <a:buChar char="•"/>
            </a:pPr>
            <a:r>
              <a:rPr i="0" lang="en-US" sz="30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Teaching               30%</a:t>
            </a:r>
            <a:endParaRPr sz="30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3000" u="none" cap="none" strike="noStrik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23850" lvl="1" marL="647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nstrument Sans"/>
              <a:buChar char="•"/>
            </a:pPr>
            <a:r>
              <a:rPr i="0" lang="en-US" sz="30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Research               30%</a:t>
            </a:r>
            <a:endParaRPr sz="30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3000" u="none" cap="none" strike="noStrik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23850" lvl="1" marL="647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nstrument Sans"/>
              <a:buChar char="•"/>
            </a:pPr>
            <a:r>
              <a:rPr i="0" lang="en-US" sz="30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Citations                30%</a:t>
            </a:r>
            <a:endParaRPr sz="30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73" name="Google Shape;273;p7"/>
          <p:cNvSpPr txBox="1"/>
          <p:nvPr/>
        </p:nvSpPr>
        <p:spPr>
          <a:xfrm>
            <a:off x="9935675" y="7966825"/>
            <a:ext cx="7170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911" lvl="1" marL="647694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nstrument Sans"/>
              <a:buChar char="•"/>
            </a:pPr>
            <a:r>
              <a:rPr i="0" lang="en-US" sz="30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International                               7,5%</a:t>
            </a:r>
            <a:endParaRPr sz="30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23911" lvl="1" marL="647694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nstrument Sans"/>
              <a:buChar char="•"/>
            </a:pPr>
            <a:r>
              <a:rPr i="0" lang="en-US" sz="30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Income                                           2,5%</a:t>
            </a:r>
            <a:endParaRPr sz="30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8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8" name="Google Shape;278;p8"/>
          <p:cNvGrpSpPr/>
          <p:nvPr/>
        </p:nvGrpSpPr>
        <p:grpSpPr>
          <a:xfrm>
            <a:off x="3493371" y="2128871"/>
            <a:ext cx="11301259" cy="5884597"/>
            <a:chOff x="0" y="-38100"/>
            <a:chExt cx="2976463" cy="1549853"/>
          </a:xfrm>
        </p:grpSpPr>
        <p:sp>
          <p:nvSpPr>
            <p:cNvPr id="279" name="Google Shape;279;p8"/>
            <p:cNvSpPr/>
            <p:nvPr/>
          </p:nvSpPr>
          <p:spPr>
            <a:xfrm>
              <a:off x="0" y="0"/>
              <a:ext cx="2976463" cy="1511753"/>
            </a:xfrm>
            <a:custGeom>
              <a:rect b="b" l="l" r="r" t="t"/>
              <a:pathLst>
                <a:path extrusionOk="0" h="1511753" w="2976463">
                  <a:moveTo>
                    <a:pt x="34252" y="0"/>
                  </a:moveTo>
                  <a:lnTo>
                    <a:pt x="2942211" y="0"/>
                  </a:lnTo>
                  <a:cubicBezTo>
                    <a:pt x="2961128" y="0"/>
                    <a:pt x="2976463" y="15335"/>
                    <a:pt x="2976463" y="34252"/>
                  </a:cubicBezTo>
                  <a:lnTo>
                    <a:pt x="2976463" y="1477500"/>
                  </a:lnTo>
                  <a:cubicBezTo>
                    <a:pt x="2976463" y="1496417"/>
                    <a:pt x="2961128" y="1511753"/>
                    <a:pt x="2942211" y="1511753"/>
                  </a:cubicBezTo>
                  <a:lnTo>
                    <a:pt x="34252" y="1511753"/>
                  </a:lnTo>
                  <a:cubicBezTo>
                    <a:pt x="15335" y="1511753"/>
                    <a:pt x="0" y="1496417"/>
                    <a:pt x="0" y="1477500"/>
                  </a:cubicBezTo>
                  <a:lnTo>
                    <a:pt x="0" y="34252"/>
                  </a:lnTo>
                  <a:cubicBezTo>
                    <a:pt x="0" y="15335"/>
                    <a:pt x="15335" y="0"/>
                    <a:pt x="342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8"/>
            <p:cNvSpPr txBox="1"/>
            <p:nvPr/>
          </p:nvSpPr>
          <p:spPr>
            <a:xfrm>
              <a:off x="0" y="-38100"/>
              <a:ext cx="2976463" cy="15498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1" name="Google Shape;281;p8"/>
          <p:cNvSpPr/>
          <p:nvPr/>
        </p:nvSpPr>
        <p:spPr>
          <a:xfrm>
            <a:off x="3493371" y="2273532"/>
            <a:ext cx="11301259" cy="2740555"/>
          </a:xfrm>
          <a:custGeom>
            <a:rect b="b" l="l" r="r" t="t"/>
            <a:pathLst>
              <a:path extrusionOk="0" h="2740555" w="11301259">
                <a:moveTo>
                  <a:pt x="0" y="0"/>
                </a:moveTo>
                <a:lnTo>
                  <a:pt x="11301258" y="0"/>
                </a:lnTo>
                <a:lnTo>
                  <a:pt x="11301258" y="2740555"/>
                </a:lnTo>
                <a:lnTo>
                  <a:pt x="0" y="2740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2" name="Google Shape;282;p8"/>
          <p:cNvSpPr/>
          <p:nvPr/>
        </p:nvSpPr>
        <p:spPr>
          <a:xfrm>
            <a:off x="5312265" y="5254619"/>
            <a:ext cx="7663469" cy="2758849"/>
          </a:xfrm>
          <a:custGeom>
            <a:rect b="b" l="l" r="r" t="t"/>
            <a:pathLst>
              <a:path extrusionOk="0" h="2758849" w="7663469">
                <a:moveTo>
                  <a:pt x="0" y="0"/>
                </a:moveTo>
                <a:lnTo>
                  <a:pt x="7663470" y="0"/>
                </a:lnTo>
                <a:lnTo>
                  <a:pt x="7663470" y="2758849"/>
                </a:lnTo>
                <a:lnTo>
                  <a:pt x="0" y="27588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3" name="Google Shape;283;p8"/>
          <p:cNvSpPr txBox="1"/>
          <p:nvPr/>
        </p:nvSpPr>
        <p:spPr>
          <a:xfrm>
            <a:off x="1028700" y="904875"/>
            <a:ext cx="1623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000" u="none" cap="none" strike="noStrike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Linearity Verification</a:t>
            </a:r>
            <a:endParaRPr sz="6000"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grpSp>
        <p:nvGrpSpPr>
          <p:cNvPr id="284" name="Google Shape;284;p8"/>
          <p:cNvGrpSpPr/>
          <p:nvPr/>
        </p:nvGrpSpPr>
        <p:grpSpPr>
          <a:xfrm>
            <a:off x="1028700" y="8202182"/>
            <a:ext cx="16230600" cy="1116212"/>
            <a:chOff x="0" y="-38100"/>
            <a:chExt cx="4274726" cy="293982"/>
          </a:xfrm>
        </p:grpSpPr>
        <p:sp>
          <p:nvSpPr>
            <p:cNvPr id="285" name="Google Shape;285;p8"/>
            <p:cNvSpPr/>
            <p:nvPr/>
          </p:nvSpPr>
          <p:spPr>
            <a:xfrm>
              <a:off x="0" y="0"/>
              <a:ext cx="4274726" cy="255882"/>
            </a:xfrm>
            <a:custGeom>
              <a:rect b="b" l="l" r="r" t="t"/>
              <a:pathLst>
                <a:path extrusionOk="0" h="255882" w="4274726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232032"/>
                  </a:lnTo>
                  <a:cubicBezTo>
                    <a:pt x="4274726" y="238357"/>
                    <a:pt x="4272213" y="244424"/>
                    <a:pt x="4267741" y="248896"/>
                  </a:cubicBezTo>
                  <a:cubicBezTo>
                    <a:pt x="4263268" y="253369"/>
                    <a:pt x="4257201" y="255882"/>
                    <a:pt x="4250876" y="255882"/>
                  </a:cubicBezTo>
                  <a:lnTo>
                    <a:pt x="23850" y="255882"/>
                  </a:lnTo>
                  <a:cubicBezTo>
                    <a:pt x="17524" y="255882"/>
                    <a:pt x="11458" y="253369"/>
                    <a:pt x="6985" y="248896"/>
                  </a:cubicBezTo>
                  <a:cubicBezTo>
                    <a:pt x="2513" y="244424"/>
                    <a:pt x="0" y="238357"/>
                    <a:pt x="0" y="232032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8"/>
            <p:cNvSpPr txBox="1"/>
            <p:nvPr/>
          </p:nvSpPr>
          <p:spPr>
            <a:xfrm>
              <a:off x="0" y="-38100"/>
              <a:ext cx="4274726" cy="2939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7" name="Google Shape;287;p8"/>
          <p:cNvSpPr txBox="1"/>
          <p:nvPr/>
        </p:nvSpPr>
        <p:spPr>
          <a:xfrm>
            <a:off x="1028700" y="8299218"/>
            <a:ext cx="16230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Strong linear alignment observed in Teaching / Research / Citations indicators. </a:t>
            </a:r>
            <a:endParaRPr i="0" sz="3000" u="none" cap="none" strike="noStrik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International and Income have high dispersion</a:t>
            </a:r>
            <a:endParaRPr sz="30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8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oogle Shape;292;p9"/>
          <p:cNvGrpSpPr/>
          <p:nvPr/>
        </p:nvGrpSpPr>
        <p:grpSpPr>
          <a:xfrm>
            <a:off x="1028700" y="2476117"/>
            <a:ext cx="9239421" cy="3291090"/>
            <a:chOff x="0" y="-38100"/>
            <a:chExt cx="2433428" cy="866789"/>
          </a:xfrm>
        </p:grpSpPr>
        <p:sp>
          <p:nvSpPr>
            <p:cNvPr id="293" name="Google Shape;293;p9"/>
            <p:cNvSpPr/>
            <p:nvPr/>
          </p:nvSpPr>
          <p:spPr>
            <a:xfrm>
              <a:off x="0" y="0"/>
              <a:ext cx="2433428" cy="828689"/>
            </a:xfrm>
            <a:custGeom>
              <a:rect b="b" l="l" r="r" t="t"/>
              <a:pathLst>
                <a:path extrusionOk="0" h="828689" w="2433428">
                  <a:moveTo>
                    <a:pt x="41896" y="0"/>
                  </a:moveTo>
                  <a:lnTo>
                    <a:pt x="2391532" y="0"/>
                  </a:lnTo>
                  <a:cubicBezTo>
                    <a:pt x="2402643" y="0"/>
                    <a:pt x="2413299" y="4414"/>
                    <a:pt x="2421156" y="12271"/>
                  </a:cubicBezTo>
                  <a:cubicBezTo>
                    <a:pt x="2429014" y="20128"/>
                    <a:pt x="2433428" y="30785"/>
                    <a:pt x="2433428" y="41896"/>
                  </a:cubicBezTo>
                  <a:lnTo>
                    <a:pt x="2433428" y="786793"/>
                  </a:lnTo>
                  <a:cubicBezTo>
                    <a:pt x="2433428" y="797904"/>
                    <a:pt x="2429014" y="808561"/>
                    <a:pt x="2421156" y="816418"/>
                  </a:cubicBezTo>
                  <a:cubicBezTo>
                    <a:pt x="2413299" y="824275"/>
                    <a:pt x="2402643" y="828689"/>
                    <a:pt x="2391532" y="828689"/>
                  </a:cubicBezTo>
                  <a:lnTo>
                    <a:pt x="41896" y="828689"/>
                  </a:lnTo>
                  <a:cubicBezTo>
                    <a:pt x="30785" y="828689"/>
                    <a:pt x="20128" y="824275"/>
                    <a:pt x="12271" y="816418"/>
                  </a:cubicBezTo>
                  <a:cubicBezTo>
                    <a:pt x="4414" y="808561"/>
                    <a:pt x="0" y="797904"/>
                    <a:pt x="0" y="786793"/>
                  </a:cubicBezTo>
                  <a:lnTo>
                    <a:pt x="0" y="41896"/>
                  </a:lnTo>
                  <a:cubicBezTo>
                    <a:pt x="0" y="30785"/>
                    <a:pt x="4414" y="20128"/>
                    <a:pt x="12271" y="12271"/>
                  </a:cubicBezTo>
                  <a:cubicBezTo>
                    <a:pt x="20128" y="4414"/>
                    <a:pt x="30785" y="0"/>
                    <a:pt x="418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9"/>
            <p:cNvSpPr txBox="1"/>
            <p:nvPr/>
          </p:nvSpPr>
          <p:spPr>
            <a:xfrm>
              <a:off x="0" y="-38100"/>
              <a:ext cx="2433428" cy="866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5" name="Google Shape;295;p9"/>
          <p:cNvGrpSpPr/>
          <p:nvPr/>
        </p:nvGrpSpPr>
        <p:grpSpPr>
          <a:xfrm>
            <a:off x="2735311" y="2775444"/>
            <a:ext cx="6251334" cy="934906"/>
            <a:chOff x="0" y="-38100"/>
            <a:chExt cx="1646442" cy="246230"/>
          </a:xfrm>
        </p:grpSpPr>
        <p:sp>
          <p:nvSpPr>
            <p:cNvPr id="296" name="Google Shape;296;p9"/>
            <p:cNvSpPr/>
            <p:nvPr/>
          </p:nvSpPr>
          <p:spPr>
            <a:xfrm>
              <a:off x="0" y="0"/>
              <a:ext cx="1646442" cy="208130"/>
            </a:xfrm>
            <a:custGeom>
              <a:rect b="b" l="l" r="r" t="t"/>
              <a:pathLst>
                <a:path extrusionOk="0" h="208130" w="1646442">
                  <a:moveTo>
                    <a:pt x="61922" y="0"/>
                  </a:moveTo>
                  <a:lnTo>
                    <a:pt x="1584520" y="0"/>
                  </a:lnTo>
                  <a:cubicBezTo>
                    <a:pt x="1600943" y="0"/>
                    <a:pt x="1616693" y="6524"/>
                    <a:pt x="1628305" y="18137"/>
                  </a:cubicBezTo>
                  <a:cubicBezTo>
                    <a:pt x="1639918" y="29749"/>
                    <a:pt x="1646442" y="45499"/>
                    <a:pt x="1646442" y="61922"/>
                  </a:cubicBezTo>
                  <a:lnTo>
                    <a:pt x="1646442" y="146208"/>
                  </a:lnTo>
                  <a:cubicBezTo>
                    <a:pt x="1646442" y="162631"/>
                    <a:pt x="1639918" y="178381"/>
                    <a:pt x="1628305" y="189994"/>
                  </a:cubicBezTo>
                  <a:cubicBezTo>
                    <a:pt x="1616693" y="201606"/>
                    <a:pt x="1600943" y="208130"/>
                    <a:pt x="1584520" y="208130"/>
                  </a:cubicBezTo>
                  <a:lnTo>
                    <a:pt x="61922" y="208130"/>
                  </a:lnTo>
                  <a:cubicBezTo>
                    <a:pt x="45499" y="208130"/>
                    <a:pt x="29749" y="201606"/>
                    <a:pt x="18137" y="189994"/>
                  </a:cubicBezTo>
                  <a:cubicBezTo>
                    <a:pt x="6524" y="178381"/>
                    <a:pt x="0" y="162631"/>
                    <a:pt x="0" y="146208"/>
                  </a:cubicBezTo>
                  <a:lnTo>
                    <a:pt x="0" y="61922"/>
                  </a:lnTo>
                  <a:cubicBezTo>
                    <a:pt x="0" y="45499"/>
                    <a:pt x="6524" y="29749"/>
                    <a:pt x="18137" y="18137"/>
                  </a:cubicBezTo>
                  <a:cubicBezTo>
                    <a:pt x="29749" y="6524"/>
                    <a:pt x="45499" y="0"/>
                    <a:pt x="61922" y="0"/>
                  </a:cubicBezTo>
                  <a:close/>
                </a:path>
              </a:pathLst>
            </a:custGeom>
            <a:solidFill>
              <a:srgbClr val="EDF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9"/>
            <p:cNvSpPr txBox="1"/>
            <p:nvPr/>
          </p:nvSpPr>
          <p:spPr>
            <a:xfrm>
              <a:off x="0" y="-38100"/>
              <a:ext cx="1646442" cy="246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8" name="Google Shape;298;p9"/>
          <p:cNvGrpSpPr/>
          <p:nvPr/>
        </p:nvGrpSpPr>
        <p:grpSpPr>
          <a:xfrm>
            <a:off x="1028700" y="5967210"/>
            <a:ext cx="9239421" cy="3291090"/>
            <a:chOff x="0" y="-38100"/>
            <a:chExt cx="2433428" cy="866789"/>
          </a:xfrm>
        </p:grpSpPr>
        <p:sp>
          <p:nvSpPr>
            <p:cNvPr id="299" name="Google Shape;299;p9"/>
            <p:cNvSpPr/>
            <p:nvPr/>
          </p:nvSpPr>
          <p:spPr>
            <a:xfrm>
              <a:off x="0" y="0"/>
              <a:ext cx="2433428" cy="828689"/>
            </a:xfrm>
            <a:custGeom>
              <a:rect b="b" l="l" r="r" t="t"/>
              <a:pathLst>
                <a:path extrusionOk="0" h="828689" w="2433428">
                  <a:moveTo>
                    <a:pt x="41896" y="0"/>
                  </a:moveTo>
                  <a:lnTo>
                    <a:pt x="2391532" y="0"/>
                  </a:lnTo>
                  <a:cubicBezTo>
                    <a:pt x="2402643" y="0"/>
                    <a:pt x="2413299" y="4414"/>
                    <a:pt x="2421156" y="12271"/>
                  </a:cubicBezTo>
                  <a:cubicBezTo>
                    <a:pt x="2429014" y="20128"/>
                    <a:pt x="2433428" y="30785"/>
                    <a:pt x="2433428" y="41896"/>
                  </a:cubicBezTo>
                  <a:lnTo>
                    <a:pt x="2433428" y="786793"/>
                  </a:lnTo>
                  <a:cubicBezTo>
                    <a:pt x="2433428" y="797904"/>
                    <a:pt x="2429014" y="808561"/>
                    <a:pt x="2421156" y="816418"/>
                  </a:cubicBezTo>
                  <a:cubicBezTo>
                    <a:pt x="2413299" y="824275"/>
                    <a:pt x="2402643" y="828689"/>
                    <a:pt x="2391532" y="828689"/>
                  </a:cubicBezTo>
                  <a:lnTo>
                    <a:pt x="41896" y="828689"/>
                  </a:lnTo>
                  <a:cubicBezTo>
                    <a:pt x="30785" y="828689"/>
                    <a:pt x="20128" y="824275"/>
                    <a:pt x="12271" y="816418"/>
                  </a:cubicBezTo>
                  <a:cubicBezTo>
                    <a:pt x="4414" y="808561"/>
                    <a:pt x="0" y="797904"/>
                    <a:pt x="0" y="786793"/>
                  </a:cubicBezTo>
                  <a:lnTo>
                    <a:pt x="0" y="41896"/>
                  </a:lnTo>
                  <a:cubicBezTo>
                    <a:pt x="0" y="30785"/>
                    <a:pt x="4414" y="20128"/>
                    <a:pt x="12271" y="12271"/>
                  </a:cubicBezTo>
                  <a:cubicBezTo>
                    <a:pt x="20128" y="4414"/>
                    <a:pt x="30785" y="0"/>
                    <a:pt x="418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9"/>
            <p:cNvSpPr txBox="1"/>
            <p:nvPr/>
          </p:nvSpPr>
          <p:spPr>
            <a:xfrm>
              <a:off x="0" y="-38100"/>
              <a:ext cx="2433428" cy="866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1" name="Google Shape;301;p9"/>
          <p:cNvGrpSpPr/>
          <p:nvPr/>
        </p:nvGrpSpPr>
        <p:grpSpPr>
          <a:xfrm>
            <a:off x="3626318" y="6298821"/>
            <a:ext cx="4044185" cy="934906"/>
            <a:chOff x="0" y="-38100"/>
            <a:chExt cx="1065135" cy="246230"/>
          </a:xfrm>
        </p:grpSpPr>
        <p:sp>
          <p:nvSpPr>
            <p:cNvPr id="302" name="Google Shape;302;p9"/>
            <p:cNvSpPr/>
            <p:nvPr/>
          </p:nvSpPr>
          <p:spPr>
            <a:xfrm>
              <a:off x="0" y="0"/>
              <a:ext cx="1065135" cy="208130"/>
            </a:xfrm>
            <a:custGeom>
              <a:rect b="b" l="l" r="r" t="t"/>
              <a:pathLst>
                <a:path extrusionOk="0" h="208130" w="1065135">
                  <a:moveTo>
                    <a:pt x="95717" y="0"/>
                  </a:moveTo>
                  <a:lnTo>
                    <a:pt x="969418" y="0"/>
                  </a:lnTo>
                  <a:cubicBezTo>
                    <a:pt x="1022281" y="0"/>
                    <a:pt x="1065135" y="42854"/>
                    <a:pt x="1065135" y="95717"/>
                  </a:cubicBezTo>
                  <a:lnTo>
                    <a:pt x="1065135" y="112414"/>
                  </a:lnTo>
                  <a:cubicBezTo>
                    <a:pt x="1065135" y="137799"/>
                    <a:pt x="1055051" y="162145"/>
                    <a:pt x="1037100" y="180096"/>
                  </a:cubicBezTo>
                  <a:cubicBezTo>
                    <a:pt x="1019150" y="198046"/>
                    <a:pt x="994804" y="208130"/>
                    <a:pt x="969418" y="208130"/>
                  </a:cubicBezTo>
                  <a:lnTo>
                    <a:pt x="95717" y="208130"/>
                  </a:lnTo>
                  <a:cubicBezTo>
                    <a:pt x="70331" y="208130"/>
                    <a:pt x="45985" y="198046"/>
                    <a:pt x="28035" y="180096"/>
                  </a:cubicBezTo>
                  <a:cubicBezTo>
                    <a:pt x="10084" y="162145"/>
                    <a:pt x="0" y="137799"/>
                    <a:pt x="0" y="112414"/>
                  </a:cubicBezTo>
                  <a:lnTo>
                    <a:pt x="0" y="95717"/>
                  </a:lnTo>
                  <a:cubicBezTo>
                    <a:pt x="0" y="70331"/>
                    <a:pt x="10084" y="45985"/>
                    <a:pt x="28035" y="28035"/>
                  </a:cubicBezTo>
                  <a:cubicBezTo>
                    <a:pt x="45985" y="10084"/>
                    <a:pt x="70331" y="0"/>
                    <a:pt x="95717" y="0"/>
                  </a:cubicBezTo>
                  <a:close/>
                </a:path>
              </a:pathLst>
            </a:custGeom>
            <a:solidFill>
              <a:srgbClr val="EDF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9"/>
            <p:cNvSpPr txBox="1"/>
            <p:nvPr/>
          </p:nvSpPr>
          <p:spPr>
            <a:xfrm>
              <a:off x="0" y="-38100"/>
              <a:ext cx="1065135" cy="246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4" name="Google Shape;304;p9"/>
          <p:cNvGrpSpPr/>
          <p:nvPr/>
        </p:nvGrpSpPr>
        <p:grpSpPr>
          <a:xfrm>
            <a:off x="1355602" y="7342715"/>
            <a:ext cx="2631851" cy="1558799"/>
            <a:chOff x="0" y="-38100"/>
            <a:chExt cx="693163" cy="410548"/>
          </a:xfrm>
        </p:grpSpPr>
        <p:sp>
          <p:nvSpPr>
            <p:cNvPr id="305" name="Google Shape;305;p9"/>
            <p:cNvSpPr/>
            <p:nvPr/>
          </p:nvSpPr>
          <p:spPr>
            <a:xfrm>
              <a:off x="0" y="0"/>
              <a:ext cx="693163" cy="372448"/>
            </a:xfrm>
            <a:custGeom>
              <a:rect b="b" l="l" r="r" t="t"/>
              <a:pathLst>
                <a:path extrusionOk="0" h="372448" w="693163">
                  <a:moveTo>
                    <a:pt x="147081" y="0"/>
                  </a:moveTo>
                  <a:lnTo>
                    <a:pt x="546081" y="0"/>
                  </a:lnTo>
                  <a:cubicBezTo>
                    <a:pt x="627312" y="0"/>
                    <a:pt x="693163" y="65851"/>
                    <a:pt x="693163" y="147081"/>
                  </a:cubicBezTo>
                  <a:lnTo>
                    <a:pt x="693163" y="225367"/>
                  </a:lnTo>
                  <a:cubicBezTo>
                    <a:pt x="693163" y="306597"/>
                    <a:pt x="627312" y="372448"/>
                    <a:pt x="546081" y="372448"/>
                  </a:cubicBezTo>
                  <a:lnTo>
                    <a:pt x="147081" y="372448"/>
                  </a:lnTo>
                  <a:cubicBezTo>
                    <a:pt x="65851" y="372448"/>
                    <a:pt x="0" y="306597"/>
                    <a:pt x="0" y="225367"/>
                  </a:cubicBezTo>
                  <a:lnTo>
                    <a:pt x="0" y="147081"/>
                  </a:lnTo>
                  <a:cubicBezTo>
                    <a:pt x="0" y="65851"/>
                    <a:pt x="65851" y="0"/>
                    <a:pt x="147081" y="0"/>
                  </a:cubicBez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9"/>
            <p:cNvSpPr txBox="1"/>
            <p:nvPr/>
          </p:nvSpPr>
          <p:spPr>
            <a:xfrm>
              <a:off x="0" y="-38100"/>
              <a:ext cx="693163" cy="410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7" name="Google Shape;307;p9"/>
          <p:cNvGrpSpPr/>
          <p:nvPr/>
        </p:nvGrpSpPr>
        <p:grpSpPr>
          <a:xfrm>
            <a:off x="10715796" y="2476117"/>
            <a:ext cx="6543504" cy="6782183"/>
            <a:chOff x="0" y="-38100"/>
            <a:chExt cx="1723392" cy="1786254"/>
          </a:xfrm>
        </p:grpSpPr>
        <p:sp>
          <p:nvSpPr>
            <p:cNvPr id="308" name="Google Shape;308;p9"/>
            <p:cNvSpPr/>
            <p:nvPr/>
          </p:nvSpPr>
          <p:spPr>
            <a:xfrm>
              <a:off x="0" y="0"/>
              <a:ext cx="1723392" cy="1748154"/>
            </a:xfrm>
            <a:custGeom>
              <a:rect b="b" l="l" r="r" t="t"/>
              <a:pathLst>
                <a:path extrusionOk="0" h="1748154" w="1723392">
                  <a:moveTo>
                    <a:pt x="59157" y="0"/>
                  </a:moveTo>
                  <a:lnTo>
                    <a:pt x="1664235" y="0"/>
                  </a:lnTo>
                  <a:cubicBezTo>
                    <a:pt x="1696907" y="0"/>
                    <a:pt x="1723392" y="26486"/>
                    <a:pt x="1723392" y="59157"/>
                  </a:cubicBezTo>
                  <a:lnTo>
                    <a:pt x="1723392" y="1688997"/>
                  </a:lnTo>
                  <a:cubicBezTo>
                    <a:pt x="1723392" y="1704686"/>
                    <a:pt x="1717160" y="1719733"/>
                    <a:pt x="1706065" y="1730827"/>
                  </a:cubicBezTo>
                  <a:cubicBezTo>
                    <a:pt x="1694971" y="1741921"/>
                    <a:pt x="1679924" y="1748154"/>
                    <a:pt x="1664235" y="1748154"/>
                  </a:cubicBezTo>
                  <a:lnTo>
                    <a:pt x="59157" y="1748154"/>
                  </a:lnTo>
                  <a:cubicBezTo>
                    <a:pt x="43468" y="1748154"/>
                    <a:pt x="28421" y="1741921"/>
                    <a:pt x="17327" y="1730827"/>
                  </a:cubicBezTo>
                  <a:cubicBezTo>
                    <a:pt x="6233" y="1719733"/>
                    <a:pt x="0" y="1704686"/>
                    <a:pt x="0" y="1688997"/>
                  </a:cubicBezTo>
                  <a:lnTo>
                    <a:pt x="0" y="59157"/>
                  </a:lnTo>
                  <a:cubicBezTo>
                    <a:pt x="0" y="43468"/>
                    <a:pt x="6233" y="28421"/>
                    <a:pt x="17327" y="17327"/>
                  </a:cubicBezTo>
                  <a:cubicBezTo>
                    <a:pt x="28421" y="6233"/>
                    <a:pt x="43468" y="0"/>
                    <a:pt x="591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9"/>
            <p:cNvSpPr txBox="1"/>
            <p:nvPr/>
          </p:nvSpPr>
          <p:spPr>
            <a:xfrm>
              <a:off x="0" y="-38100"/>
              <a:ext cx="1723392" cy="17862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0" name="Google Shape;310;p9"/>
          <p:cNvGrpSpPr/>
          <p:nvPr/>
        </p:nvGrpSpPr>
        <p:grpSpPr>
          <a:xfrm>
            <a:off x="4334616" y="7342715"/>
            <a:ext cx="2631851" cy="1558799"/>
            <a:chOff x="0" y="-38100"/>
            <a:chExt cx="693163" cy="410548"/>
          </a:xfrm>
        </p:grpSpPr>
        <p:sp>
          <p:nvSpPr>
            <p:cNvPr id="311" name="Google Shape;311;p9"/>
            <p:cNvSpPr/>
            <p:nvPr/>
          </p:nvSpPr>
          <p:spPr>
            <a:xfrm>
              <a:off x="0" y="0"/>
              <a:ext cx="693163" cy="372448"/>
            </a:xfrm>
            <a:custGeom>
              <a:rect b="b" l="l" r="r" t="t"/>
              <a:pathLst>
                <a:path extrusionOk="0" h="372448" w="693163">
                  <a:moveTo>
                    <a:pt x="147081" y="0"/>
                  </a:moveTo>
                  <a:lnTo>
                    <a:pt x="546081" y="0"/>
                  </a:lnTo>
                  <a:cubicBezTo>
                    <a:pt x="627312" y="0"/>
                    <a:pt x="693163" y="65851"/>
                    <a:pt x="693163" y="147081"/>
                  </a:cubicBezTo>
                  <a:lnTo>
                    <a:pt x="693163" y="225367"/>
                  </a:lnTo>
                  <a:cubicBezTo>
                    <a:pt x="693163" y="306597"/>
                    <a:pt x="627312" y="372448"/>
                    <a:pt x="546081" y="372448"/>
                  </a:cubicBezTo>
                  <a:lnTo>
                    <a:pt x="147081" y="372448"/>
                  </a:lnTo>
                  <a:cubicBezTo>
                    <a:pt x="65851" y="372448"/>
                    <a:pt x="0" y="306597"/>
                    <a:pt x="0" y="225367"/>
                  </a:cubicBezTo>
                  <a:lnTo>
                    <a:pt x="0" y="147081"/>
                  </a:lnTo>
                  <a:cubicBezTo>
                    <a:pt x="0" y="65851"/>
                    <a:pt x="65851" y="0"/>
                    <a:pt x="147081" y="0"/>
                  </a:cubicBez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9"/>
            <p:cNvSpPr txBox="1"/>
            <p:nvPr/>
          </p:nvSpPr>
          <p:spPr>
            <a:xfrm>
              <a:off x="0" y="-38100"/>
              <a:ext cx="693163" cy="410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3" name="Google Shape;313;p9"/>
          <p:cNvGrpSpPr/>
          <p:nvPr/>
        </p:nvGrpSpPr>
        <p:grpSpPr>
          <a:xfrm>
            <a:off x="7309367" y="7342715"/>
            <a:ext cx="2631851" cy="1558799"/>
            <a:chOff x="0" y="-38100"/>
            <a:chExt cx="693163" cy="410548"/>
          </a:xfrm>
        </p:grpSpPr>
        <p:sp>
          <p:nvSpPr>
            <p:cNvPr id="314" name="Google Shape;314;p9"/>
            <p:cNvSpPr/>
            <p:nvPr/>
          </p:nvSpPr>
          <p:spPr>
            <a:xfrm>
              <a:off x="0" y="0"/>
              <a:ext cx="693163" cy="372448"/>
            </a:xfrm>
            <a:custGeom>
              <a:rect b="b" l="l" r="r" t="t"/>
              <a:pathLst>
                <a:path extrusionOk="0" h="372448" w="693163">
                  <a:moveTo>
                    <a:pt x="147081" y="0"/>
                  </a:moveTo>
                  <a:lnTo>
                    <a:pt x="546081" y="0"/>
                  </a:lnTo>
                  <a:cubicBezTo>
                    <a:pt x="627312" y="0"/>
                    <a:pt x="693163" y="65851"/>
                    <a:pt x="693163" y="147081"/>
                  </a:cubicBezTo>
                  <a:lnTo>
                    <a:pt x="693163" y="225367"/>
                  </a:lnTo>
                  <a:cubicBezTo>
                    <a:pt x="693163" y="306597"/>
                    <a:pt x="627312" y="372448"/>
                    <a:pt x="546081" y="372448"/>
                  </a:cubicBezTo>
                  <a:lnTo>
                    <a:pt x="147081" y="372448"/>
                  </a:lnTo>
                  <a:cubicBezTo>
                    <a:pt x="65851" y="372448"/>
                    <a:pt x="0" y="306597"/>
                    <a:pt x="0" y="225367"/>
                  </a:cubicBezTo>
                  <a:lnTo>
                    <a:pt x="0" y="147081"/>
                  </a:lnTo>
                  <a:cubicBezTo>
                    <a:pt x="0" y="65851"/>
                    <a:pt x="65851" y="0"/>
                    <a:pt x="147081" y="0"/>
                  </a:cubicBez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9"/>
            <p:cNvSpPr txBox="1"/>
            <p:nvPr/>
          </p:nvSpPr>
          <p:spPr>
            <a:xfrm>
              <a:off x="0" y="-38100"/>
              <a:ext cx="693163" cy="410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6" name="Google Shape;316;p9"/>
          <p:cNvGrpSpPr/>
          <p:nvPr/>
        </p:nvGrpSpPr>
        <p:grpSpPr>
          <a:xfrm>
            <a:off x="11239468" y="2775444"/>
            <a:ext cx="5496159" cy="934906"/>
            <a:chOff x="0" y="-38100"/>
            <a:chExt cx="1447548" cy="246230"/>
          </a:xfrm>
        </p:grpSpPr>
        <p:sp>
          <p:nvSpPr>
            <p:cNvPr id="317" name="Google Shape;317;p9"/>
            <p:cNvSpPr/>
            <p:nvPr/>
          </p:nvSpPr>
          <p:spPr>
            <a:xfrm>
              <a:off x="0" y="0"/>
              <a:ext cx="1447548" cy="208130"/>
            </a:xfrm>
            <a:custGeom>
              <a:rect b="b" l="l" r="r" t="t"/>
              <a:pathLst>
                <a:path extrusionOk="0" h="208130" w="1447548">
                  <a:moveTo>
                    <a:pt x="70430" y="0"/>
                  </a:moveTo>
                  <a:lnTo>
                    <a:pt x="1377118" y="0"/>
                  </a:lnTo>
                  <a:cubicBezTo>
                    <a:pt x="1416015" y="0"/>
                    <a:pt x="1447548" y="31533"/>
                    <a:pt x="1447548" y="70430"/>
                  </a:cubicBezTo>
                  <a:lnTo>
                    <a:pt x="1447548" y="137700"/>
                  </a:lnTo>
                  <a:cubicBezTo>
                    <a:pt x="1447548" y="156379"/>
                    <a:pt x="1440128" y="174294"/>
                    <a:pt x="1426919" y="187502"/>
                  </a:cubicBezTo>
                  <a:cubicBezTo>
                    <a:pt x="1413711" y="200710"/>
                    <a:pt x="1395797" y="208130"/>
                    <a:pt x="1377118" y="208130"/>
                  </a:cubicBezTo>
                  <a:lnTo>
                    <a:pt x="70430" y="208130"/>
                  </a:lnTo>
                  <a:cubicBezTo>
                    <a:pt x="51751" y="208130"/>
                    <a:pt x="33837" y="200710"/>
                    <a:pt x="20629" y="187502"/>
                  </a:cubicBezTo>
                  <a:cubicBezTo>
                    <a:pt x="7420" y="174294"/>
                    <a:pt x="0" y="156379"/>
                    <a:pt x="0" y="137700"/>
                  </a:cubicBezTo>
                  <a:lnTo>
                    <a:pt x="0" y="70430"/>
                  </a:lnTo>
                  <a:cubicBezTo>
                    <a:pt x="0" y="31533"/>
                    <a:pt x="31533" y="0"/>
                    <a:pt x="70430" y="0"/>
                  </a:cubicBezTo>
                  <a:close/>
                </a:path>
              </a:pathLst>
            </a:custGeom>
            <a:solidFill>
              <a:srgbClr val="EDF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9"/>
            <p:cNvSpPr txBox="1"/>
            <p:nvPr/>
          </p:nvSpPr>
          <p:spPr>
            <a:xfrm>
              <a:off x="0" y="-38100"/>
              <a:ext cx="1447548" cy="246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9" name="Google Shape;319;p9"/>
          <p:cNvGrpSpPr/>
          <p:nvPr/>
        </p:nvGrpSpPr>
        <p:grpSpPr>
          <a:xfrm>
            <a:off x="11029195" y="6623215"/>
            <a:ext cx="2817203" cy="2278299"/>
            <a:chOff x="0" y="-38100"/>
            <a:chExt cx="741979" cy="600046"/>
          </a:xfrm>
        </p:grpSpPr>
        <p:sp>
          <p:nvSpPr>
            <p:cNvPr id="320" name="Google Shape;320;p9"/>
            <p:cNvSpPr/>
            <p:nvPr/>
          </p:nvSpPr>
          <p:spPr>
            <a:xfrm>
              <a:off x="0" y="0"/>
              <a:ext cx="741979" cy="561946"/>
            </a:xfrm>
            <a:custGeom>
              <a:rect b="b" l="l" r="r" t="t"/>
              <a:pathLst>
                <a:path extrusionOk="0" h="561946" w="741979">
                  <a:moveTo>
                    <a:pt x="137404" y="0"/>
                  </a:moveTo>
                  <a:lnTo>
                    <a:pt x="604575" y="0"/>
                  </a:lnTo>
                  <a:cubicBezTo>
                    <a:pt x="680461" y="0"/>
                    <a:pt x="741979" y="61518"/>
                    <a:pt x="741979" y="137404"/>
                  </a:cubicBezTo>
                  <a:lnTo>
                    <a:pt x="741979" y="424541"/>
                  </a:lnTo>
                  <a:cubicBezTo>
                    <a:pt x="741979" y="460983"/>
                    <a:pt x="727503" y="495933"/>
                    <a:pt x="701735" y="521701"/>
                  </a:cubicBezTo>
                  <a:cubicBezTo>
                    <a:pt x="675966" y="547469"/>
                    <a:pt x="641017" y="561946"/>
                    <a:pt x="604575" y="561946"/>
                  </a:cubicBezTo>
                  <a:lnTo>
                    <a:pt x="137404" y="561946"/>
                  </a:lnTo>
                  <a:cubicBezTo>
                    <a:pt x="100962" y="561946"/>
                    <a:pt x="66013" y="547469"/>
                    <a:pt x="40245" y="521701"/>
                  </a:cubicBezTo>
                  <a:cubicBezTo>
                    <a:pt x="14476" y="495933"/>
                    <a:pt x="0" y="460983"/>
                    <a:pt x="0" y="424541"/>
                  </a:cubicBezTo>
                  <a:lnTo>
                    <a:pt x="0" y="137404"/>
                  </a:lnTo>
                  <a:cubicBezTo>
                    <a:pt x="0" y="100962"/>
                    <a:pt x="14476" y="66013"/>
                    <a:pt x="40245" y="40245"/>
                  </a:cubicBezTo>
                  <a:cubicBezTo>
                    <a:pt x="66013" y="14476"/>
                    <a:pt x="100962" y="0"/>
                    <a:pt x="137404" y="0"/>
                  </a:cubicBez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9"/>
            <p:cNvSpPr txBox="1"/>
            <p:nvPr/>
          </p:nvSpPr>
          <p:spPr>
            <a:xfrm>
              <a:off x="0" y="-38100"/>
              <a:ext cx="741979" cy="600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2" name="Google Shape;322;p9"/>
          <p:cNvGrpSpPr/>
          <p:nvPr/>
        </p:nvGrpSpPr>
        <p:grpSpPr>
          <a:xfrm>
            <a:off x="14174103" y="6623215"/>
            <a:ext cx="2817203" cy="2278299"/>
            <a:chOff x="0" y="-38100"/>
            <a:chExt cx="741979" cy="600046"/>
          </a:xfrm>
        </p:grpSpPr>
        <p:sp>
          <p:nvSpPr>
            <p:cNvPr id="323" name="Google Shape;323;p9"/>
            <p:cNvSpPr/>
            <p:nvPr/>
          </p:nvSpPr>
          <p:spPr>
            <a:xfrm>
              <a:off x="0" y="0"/>
              <a:ext cx="741979" cy="561946"/>
            </a:xfrm>
            <a:custGeom>
              <a:rect b="b" l="l" r="r" t="t"/>
              <a:pathLst>
                <a:path extrusionOk="0" h="561946" w="741979">
                  <a:moveTo>
                    <a:pt x="137404" y="0"/>
                  </a:moveTo>
                  <a:lnTo>
                    <a:pt x="604575" y="0"/>
                  </a:lnTo>
                  <a:cubicBezTo>
                    <a:pt x="680461" y="0"/>
                    <a:pt x="741979" y="61518"/>
                    <a:pt x="741979" y="137404"/>
                  </a:cubicBezTo>
                  <a:lnTo>
                    <a:pt x="741979" y="424541"/>
                  </a:lnTo>
                  <a:cubicBezTo>
                    <a:pt x="741979" y="460983"/>
                    <a:pt x="727503" y="495933"/>
                    <a:pt x="701735" y="521701"/>
                  </a:cubicBezTo>
                  <a:cubicBezTo>
                    <a:pt x="675966" y="547469"/>
                    <a:pt x="641017" y="561946"/>
                    <a:pt x="604575" y="561946"/>
                  </a:cubicBezTo>
                  <a:lnTo>
                    <a:pt x="137404" y="561946"/>
                  </a:lnTo>
                  <a:cubicBezTo>
                    <a:pt x="100962" y="561946"/>
                    <a:pt x="66013" y="547469"/>
                    <a:pt x="40245" y="521701"/>
                  </a:cubicBezTo>
                  <a:cubicBezTo>
                    <a:pt x="14476" y="495933"/>
                    <a:pt x="0" y="460983"/>
                    <a:pt x="0" y="424541"/>
                  </a:cubicBezTo>
                  <a:lnTo>
                    <a:pt x="0" y="137404"/>
                  </a:lnTo>
                  <a:cubicBezTo>
                    <a:pt x="0" y="100962"/>
                    <a:pt x="14476" y="66013"/>
                    <a:pt x="40245" y="40245"/>
                  </a:cubicBezTo>
                  <a:cubicBezTo>
                    <a:pt x="66013" y="14476"/>
                    <a:pt x="100962" y="0"/>
                    <a:pt x="137404" y="0"/>
                  </a:cubicBez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9"/>
            <p:cNvSpPr txBox="1"/>
            <p:nvPr/>
          </p:nvSpPr>
          <p:spPr>
            <a:xfrm>
              <a:off x="0" y="-38100"/>
              <a:ext cx="741979" cy="600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5" name="Google Shape;325;p9"/>
          <p:cNvSpPr/>
          <p:nvPr/>
        </p:nvSpPr>
        <p:spPr>
          <a:xfrm>
            <a:off x="11680142" y="6936016"/>
            <a:ext cx="1515309" cy="1102719"/>
          </a:xfrm>
          <a:custGeom>
            <a:rect b="b" l="l" r="r" t="t"/>
            <a:pathLst>
              <a:path extrusionOk="0" h="1102719" w="1515309">
                <a:moveTo>
                  <a:pt x="0" y="0"/>
                </a:moveTo>
                <a:lnTo>
                  <a:pt x="1515310" y="0"/>
                </a:lnTo>
                <a:lnTo>
                  <a:pt x="1515310" y="1102719"/>
                </a:lnTo>
                <a:lnTo>
                  <a:pt x="0" y="11027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78897" l="-66548" r="-66693" t="-77388"/>
            </a:stretch>
          </a:blipFill>
          <a:ln>
            <a:noFill/>
          </a:ln>
        </p:spPr>
      </p:sp>
      <p:sp>
        <p:nvSpPr>
          <p:cNvPr id="326" name="Google Shape;326;p9"/>
          <p:cNvSpPr/>
          <p:nvPr/>
        </p:nvSpPr>
        <p:spPr>
          <a:xfrm>
            <a:off x="14560022" y="6936016"/>
            <a:ext cx="2045366" cy="1009153"/>
          </a:xfrm>
          <a:custGeom>
            <a:rect b="b" l="l" r="r" t="t"/>
            <a:pathLst>
              <a:path extrusionOk="0" h="1009153" w="2045366">
                <a:moveTo>
                  <a:pt x="0" y="0"/>
                </a:moveTo>
                <a:lnTo>
                  <a:pt x="2045366" y="0"/>
                </a:lnTo>
                <a:lnTo>
                  <a:pt x="2045366" y="1009153"/>
                </a:lnTo>
                <a:lnTo>
                  <a:pt x="0" y="1009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751" l="-2134" r="0" t="-1751"/>
            </a:stretch>
          </a:blipFill>
          <a:ln>
            <a:noFill/>
          </a:ln>
        </p:spPr>
      </p:sp>
      <p:sp>
        <p:nvSpPr>
          <p:cNvPr id="327" name="Google Shape;327;p9"/>
          <p:cNvSpPr txBox="1"/>
          <p:nvPr/>
        </p:nvSpPr>
        <p:spPr>
          <a:xfrm>
            <a:off x="1028700" y="904875"/>
            <a:ext cx="1623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000" u="none" cap="none" strike="noStrike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Final Takeaways</a:t>
            </a:r>
            <a:endParaRPr sz="6000"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328" name="Google Shape;328;p9"/>
          <p:cNvSpPr txBox="1"/>
          <p:nvPr/>
        </p:nvSpPr>
        <p:spPr>
          <a:xfrm>
            <a:off x="2826124" y="2946927"/>
            <a:ext cx="6160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000" u="none" cap="none" strike="noStrike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Transparency Confirmed</a:t>
            </a:r>
            <a:endParaRPr sz="4000"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329" name="Google Shape;329;p9"/>
          <p:cNvSpPr txBox="1"/>
          <p:nvPr/>
        </p:nvSpPr>
        <p:spPr>
          <a:xfrm>
            <a:off x="3671724" y="6470305"/>
            <a:ext cx="399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000" u="none" cap="none" strike="noStrike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Strategic Focus</a:t>
            </a:r>
            <a:endParaRPr sz="4000"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330" name="Google Shape;330;p9"/>
          <p:cNvSpPr txBox="1"/>
          <p:nvPr/>
        </p:nvSpPr>
        <p:spPr>
          <a:xfrm>
            <a:off x="1807100" y="7706425"/>
            <a:ext cx="174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Teaching</a:t>
            </a:r>
            <a:endParaRPr/>
          </a:p>
        </p:txBody>
      </p:sp>
      <p:sp>
        <p:nvSpPr>
          <p:cNvPr id="331" name="Google Shape;331;p9"/>
          <p:cNvSpPr txBox="1"/>
          <p:nvPr/>
        </p:nvSpPr>
        <p:spPr>
          <a:xfrm>
            <a:off x="1416339" y="8257530"/>
            <a:ext cx="2525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5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30%</a:t>
            </a:r>
            <a:endParaRPr sz="25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32" name="Google Shape;332;p9"/>
          <p:cNvSpPr txBox="1"/>
          <p:nvPr/>
        </p:nvSpPr>
        <p:spPr>
          <a:xfrm>
            <a:off x="1453837" y="3919900"/>
            <a:ext cx="8814300" cy="17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THE's grading system is not a "black box"—it is mathematically predictable and follows stated methodology with near-perfect precision.</a:t>
            </a:r>
            <a:endParaRPr sz="30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33" name="Google Shape;333;p9"/>
          <p:cNvSpPr txBox="1"/>
          <p:nvPr/>
        </p:nvSpPr>
        <p:spPr>
          <a:xfrm>
            <a:off x="4838268" y="7706419"/>
            <a:ext cx="162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Research</a:t>
            </a:r>
            <a:endParaRPr/>
          </a:p>
        </p:txBody>
      </p:sp>
      <p:sp>
        <p:nvSpPr>
          <p:cNvPr id="334" name="Google Shape;334;p9"/>
          <p:cNvSpPr txBox="1"/>
          <p:nvPr/>
        </p:nvSpPr>
        <p:spPr>
          <a:xfrm>
            <a:off x="7644888" y="7706425"/>
            <a:ext cx="188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Citations</a:t>
            </a:r>
            <a:endParaRPr/>
          </a:p>
        </p:txBody>
      </p:sp>
      <p:sp>
        <p:nvSpPr>
          <p:cNvPr id="335" name="Google Shape;335;p9"/>
          <p:cNvSpPr txBox="1"/>
          <p:nvPr/>
        </p:nvSpPr>
        <p:spPr>
          <a:xfrm>
            <a:off x="4385799" y="8257530"/>
            <a:ext cx="2525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5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30%</a:t>
            </a:r>
            <a:endParaRPr sz="25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36" name="Google Shape;336;p9"/>
          <p:cNvSpPr txBox="1"/>
          <p:nvPr/>
        </p:nvSpPr>
        <p:spPr>
          <a:xfrm>
            <a:off x="7356992" y="8257530"/>
            <a:ext cx="2525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5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30%</a:t>
            </a:r>
            <a:endParaRPr sz="25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37" name="Google Shape;337;p9"/>
          <p:cNvSpPr txBox="1"/>
          <p:nvPr/>
        </p:nvSpPr>
        <p:spPr>
          <a:xfrm>
            <a:off x="11239468" y="2946927"/>
            <a:ext cx="5496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000" u="none" cap="none" strike="noStrike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Geographical Context</a:t>
            </a:r>
            <a:endParaRPr sz="4000"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338" name="Google Shape;338;p9"/>
          <p:cNvSpPr txBox="1"/>
          <p:nvPr/>
        </p:nvSpPr>
        <p:spPr>
          <a:xfrm>
            <a:off x="11029200" y="4006088"/>
            <a:ext cx="6160500" cy="23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9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Current ranking rules favor the Anglo-Saxon university model, explaining the dominance of US and UK institutions in the top positions.</a:t>
            </a:r>
            <a:endParaRPr sz="29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39" name="Google Shape;339;p9"/>
          <p:cNvSpPr txBox="1"/>
          <p:nvPr/>
        </p:nvSpPr>
        <p:spPr>
          <a:xfrm>
            <a:off x="11565944" y="8135292"/>
            <a:ext cx="17436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932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74</a:t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932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Universities</a:t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40" name="Google Shape;340;p9"/>
          <p:cNvSpPr txBox="1"/>
          <p:nvPr/>
        </p:nvSpPr>
        <p:spPr>
          <a:xfrm>
            <a:off x="14710852" y="8135292"/>
            <a:ext cx="17436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932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29</a:t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932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Universities</a:t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